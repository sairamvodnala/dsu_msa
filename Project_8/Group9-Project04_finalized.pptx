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70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67" r:id="rId20"/>
    <p:sldId id="26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1ECC98-679B-4F52-B8C5-FC4EB86F3416}" v="62" dt="2025-05-07T06:57:07.3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930" autoAdjust="0"/>
  </p:normalViewPr>
  <p:slideViewPr>
    <p:cSldViewPr snapToGrid="0">
      <p:cViewPr varScale="1">
        <p:scale>
          <a:sx n="61" d="100"/>
          <a:sy n="61" d="100"/>
        </p:scale>
        <p:origin x="149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0920F-D6AA-4CF3-8B46-369FC913CE12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88C95-733E-4C12-BFEF-6C8909ED6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2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88C95-733E-4C12-BFEF-6C8909ED6A2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To explore the internal composition of each IED query,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Mclust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 clustering was used to group particles by their morphometric similarity. This unsupervised step identified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9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 natural clusters for each query object. The number of clusters is not assumed to equal the number of brands but provides useful segmentation to assess brand involvement.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We are not interpreting each cluster as a distinct brand but using it as a tool to group particles with similar shape/size features for downstream aggregation.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Mclust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() uses Bayesian Information Criterion (BIC) to select the number of clusters automatically. It tries to balance model fit with complexity. It doesn’t know you're working with 5 brands. it just sees multimodal, continuous distributions in 7D feature space and identifies where natural groups exist.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88C95-733E-4C12-BFEF-6C8909ED6A2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24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091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4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432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861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39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94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53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63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41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7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254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25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790" r:id="rId6"/>
    <p:sldLayoutId id="2147483795" r:id="rId7"/>
    <p:sldLayoutId id="2147483791" r:id="rId8"/>
    <p:sldLayoutId id="2147483792" r:id="rId9"/>
    <p:sldLayoutId id="2147483793" r:id="rId10"/>
    <p:sldLayoutId id="2147483794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ai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D8EACB7-D372-470B-B76E-A829D0031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176579CA-1F6C-8C2A-83AA-64160A444A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59" b="1541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6" name="Rectangle 5">
            <a:extLst>
              <a:ext uri="{FF2B5EF4-FFF2-40B4-BE49-F238E27FC236}">
                <a16:creationId xmlns:a16="http://schemas.microsoft.com/office/drawing/2014/main" id="{FBE11A49-02A1-4D4C-9A49-CDF496B109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723900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04EF7B-5958-CBC6-2B98-F5C9663CD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192" y="197584"/>
            <a:ext cx="4294831" cy="343811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SMALL ARMS Propellants (SAP)</a:t>
            </a:r>
            <a:br>
              <a:rPr lang="en-US" sz="4000" dirty="0">
                <a:solidFill>
                  <a:schemeClr val="tx1"/>
                </a:solidFill>
              </a:rPr>
            </a:br>
            <a:r>
              <a:rPr lang="en-US" sz="4000" dirty="0">
                <a:solidFill>
                  <a:schemeClr val="tx1"/>
                </a:solidFill>
              </a:rPr>
              <a:t>Project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0F215C-7F70-0DBB-3BB7-4A76B3D33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8561" y="3992569"/>
            <a:ext cx="4159921" cy="1368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Sai Ram </a:t>
            </a:r>
            <a:r>
              <a:rPr lang="en-US" dirty="0" err="1">
                <a:solidFill>
                  <a:schemeClr val="tx1"/>
                </a:solidFill>
              </a:rPr>
              <a:t>Vodnala</a:t>
            </a:r>
            <a:r>
              <a:rPr lang="en-US" dirty="0">
                <a:solidFill>
                  <a:schemeClr val="tx1"/>
                </a:solidFill>
              </a:rPr>
              <a:t> and Bibek Adhikari</a:t>
            </a:r>
          </a:p>
          <a:p>
            <a:r>
              <a:rPr lang="en-US" dirty="0">
                <a:solidFill>
                  <a:schemeClr val="tx1"/>
                </a:solidFill>
              </a:rPr>
              <a:t>Group 9</a:t>
            </a:r>
          </a:p>
          <a:p>
            <a:r>
              <a:rPr lang="en-US" dirty="0">
                <a:solidFill>
                  <a:schemeClr val="tx1"/>
                </a:solidFill>
              </a:rPr>
              <a:t>Presentation: 05/07/2025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1732D3A-CFF0-45BE-AD79-F83D0272C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80479" y="3871114"/>
            <a:ext cx="867485" cy="115439"/>
            <a:chOff x="8910933" y="1861308"/>
            <a:chExt cx="867485" cy="11543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892F72C-7FB6-49C8-A402-D5DC42DB6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C92C2E1-605F-49BD-8AC8-DC52B3015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8BE2E0F-EE6D-4748-AB8F-724D0DDC6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6653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00BB6-60E7-83C3-0F3A-5F067B40E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29030"/>
            <a:ext cx="9989070" cy="505293"/>
          </a:xfrm>
        </p:spPr>
        <p:txBody>
          <a:bodyPr>
            <a:no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DC1CF-EAD9-90D0-4C95-3A8FAA5B8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034323"/>
            <a:ext cx="10134600" cy="50969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Times New Roman"/>
                <a:cs typeface="Times New Roman"/>
              </a:rPr>
              <a:t>Small arms propellants (SAP) – canister powders – are easily accessible, cost-effective materials that a firearms enthusiast can acquire for assembling ammunition.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/>
                <a:cs typeface="Times New Roman"/>
              </a:rPr>
              <a:t>SAPs are advantageous for constructing improvised explosive devices (IEDs).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/>
                <a:cs typeface="Times New Roman"/>
              </a:rPr>
              <a:t>The article by Jarvis et al., published in 2023, is taken as a reference for this project.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/>
                <a:cs typeface="Times New Roman"/>
              </a:rPr>
              <a:t> The dataset includes:</a:t>
            </a:r>
          </a:p>
          <a:p>
            <a:pPr marL="617220" lvl="1" indent="-342900">
              <a:buAutoNum type="alphaUcPeriod"/>
            </a:pPr>
            <a:r>
              <a:rPr lang="en-US" sz="2200" dirty="0">
                <a:solidFill>
                  <a:schemeClr val="tx1"/>
                </a:solidFill>
                <a:latin typeface="Times New Roman"/>
                <a:cs typeface="Times New Roman"/>
              </a:rPr>
              <a:t>unexploded_watchlist.csv</a:t>
            </a:r>
          </a:p>
          <a:p>
            <a:pPr marL="617220" lvl="1" indent="-342900">
              <a:buAutoNum type="alphaUcPeriod"/>
            </a:pPr>
            <a:r>
              <a:rPr lang="en-US" sz="2200" dirty="0">
                <a:solidFill>
                  <a:schemeClr val="tx1"/>
                </a:solidFill>
                <a:latin typeface="Times New Roman"/>
                <a:cs typeface="Times New Roman"/>
              </a:rPr>
              <a:t>background_data.csv</a:t>
            </a:r>
          </a:p>
          <a:p>
            <a:pPr marL="617220" lvl="1" indent="-342900">
              <a:buAutoNum type="alphaUcPeriod"/>
            </a:pPr>
            <a:r>
              <a:rPr lang="en-US" sz="2200" dirty="0">
                <a:solidFill>
                  <a:schemeClr val="tx1"/>
                </a:solidFill>
                <a:latin typeface="Times New Roman"/>
                <a:cs typeface="Times New Roman"/>
              </a:rPr>
              <a:t>query_1.csv</a:t>
            </a:r>
          </a:p>
          <a:p>
            <a:pPr marL="617220" lvl="1" indent="-342900">
              <a:buAutoNum type="alphaUcPeriod"/>
            </a:pPr>
            <a:r>
              <a:rPr lang="en-US" sz="2200" dirty="0">
                <a:solidFill>
                  <a:schemeClr val="tx1"/>
                </a:solidFill>
                <a:latin typeface="Times New Roman"/>
                <a:cs typeface="Times New Roman"/>
              </a:rPr>
              <a:t>query_2.csv</a:t>
            </a:r>
          </a:p>
          <a:p>
            <a:pPr marL="617220" lvl="1" indent="-342900">
              <a:buAutoNum type="alphaUcPeriod"/>
            </a:pPr>
            <a:r>
              <a:rPr lang="en-US" sz="2200" dirty="0">
                <a:solidFill>
                  <a:schemeClr val="tx1"/>
                </a:solidFill>
                <a:latin typeface="Times New Roman"/>
                <a:cs typeface="Times New Roman"/>
              </a:rPr>
              <a:t>query_6.csv</a:t>
            </a:r>
          </a:p>
        </p:txBody>
      </p:sp>
    </p:spTree>
    <p:extLst>
      <p:ext uri="{BB962C8B-B14F-4D97-AF65-F5344CB8AC3E}">
        <p14:creationId xmlns:p14="http://schemas.microsoft.com/office/powerpoint/2010/main" val="4168486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3A4A9E-38E2-FA67-B6BC-A56D016CF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410" y="584616"/>
            <a:ext cx="10263890" cy="554662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first two data sets (unexploded and background csv) include following features: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a. “Area” b. “Perim.” c. “Major” d. “Minor” e. “Circ.” f. “AR” g. “Round” h. “Solidity”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query sets contain only the first four (a-d)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features are the measurements for the ImageJ software.</a:t>
            </a:r>
          </a:p>
          <a:p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Exploring query objects to decide how many possible brands make up the collection of particles in the query object.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Adding a sixth class of lots, by pooling all of the brands together that are not on the watch-list, as a universal background.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Building a classifier to predict which of the six classes (1 universal background class and 5 brands) gave rise to each particle in the query object.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Aggregating the individual particle predicted within the cluster.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Concluding about the brands used in the construction of the IED.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153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F5C8C5-C521-01F4-10A9-9948D3E7400A}"/>
              </a:ext>
            </a:extLst>
          </p:cNvPr>
          <p:cNvSpPr txBox="1"/>
          <p:nvPr/>
        </p:nvSpPr>
        <p:spPr>
          <a:xfrm>
            <a:off x="961867" y="474345"/>
            <a:ext cx="10732957" cy="800219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en-US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/>
                <a:cs typeface="Times New Roman"/>
              </a:rPr>
              <a:t>Adding three derived features to all the query data sets as "Circ", "AR", and "Round”.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DEB617-7580-F918-2D6A-7336E2B56B9A}"/>
              </a:ext>
            </a:extLst>
          </p:cNvPr>
          <p:cNvSpPr txBox="1"/>
          <p:nvPr/>
        </p:nvSpPr>
        <p:spPr>
          <a:xfrm>
            <a:off x="961869" y="1463405"/>
            <a:ext cx="10732956" cy="3447098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the Query data sets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To explore the internal composition of each IED query, </a:t>
            </a:r>
            <a:r>
              <a:rPr lang="en-IN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Mclust</a:t>
            </a: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 clustering was used to group particles by their morphometric similarity.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to predict the number of clusters present within the data set, accounting for the already present and feature-engineered design.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clustering do not predict how many brands (six: 5 known brands from unexploded and 1 as background) we are interested in, but rather provides the naturally existing cluster (multimodal).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provided queries were subjected to clustering.</a:t>
            </a:r>
          </a:p>
          <a:p>
            <a:pPr lvl="1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952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85">
            <a:extLst>
              <a:ext uri="{FF2B5EF4-FFF2-40B4-BE49-F238E27FC236}">
                <a16:creationId xmlns:a16="http://schemas.microsoft.com/office/drawing/2014/main" id="{88E32414-04C7-9167-F37F-1CC8C75ED4F1}"/>
              </a:ext>
            </a:extLst>
          </p:cNvPr>
          <p:cNvSpPr txBox="1"/>
          <p:nvPr/>
        </p:nvSpPr>
        <p:spPr>
          <a:xfrm>
            <a:off x="4285624" y="5400662"/>
            <a:ext cx="3620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Clustering for Query 1.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458778-B17C-1AAB-7D6D-A2EF9CA70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074" y="528638"/>
            <a:ext cx="9053850" cy="4729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00458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C6C95-81E2-C0F3-1228-AC8F7636C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85">
            <a:extLst>
              <a:ext uri="{FF2B5EF4-FFF2-40B4-BE49-F238E27FC236}">
                <a16:creationId xmlns:a16="http://schemas.microsoft.com/office/drawing/2014/main" id="{EE0D3F66-2477-DDA5-F801-6F08280DF592}"/>
              </a:ext>
            </a:extLst>
          </p:cNvPr>
          <p:cNvSpPr txBox="1"/>
          <p:nvPr/>
        </p:nvSpPr>
        <p:spPr>
          <a:xfrm>
            <a:off x="3228340" y="5267295"/>
            <a:ext cx="6325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for Query 2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Query 6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914505-0C8C-3CD9-0F41-C6945C94F6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1057228"/>
            <a:ext cx="5805488" cy="3495778"/>
          </a:xfrm>
          <a:prstGeom prst="rect">
            <a:avLst/>
          </a:prstGeom>
          <a:noFill/>
        </p:spPr>
      </p:pic>
      <p:pic>
        <p:nvPicPr>
          <p:cNvPr id="4" name="Picture 3" descr="A diagram of a cluster of particles&#10;&#10;AI-generated content may be incorrect.">
            <a:extLst>
              <a:ext uri="{FF2B5EF4-FFF2-40B4-BE49-F238E27FC236}">
                <a16:creationId xmlns:a16="http://schemas.microsoft.com/office/drawing/2014/main" id="{23873CF4-EB66-791B-1C0D-E1ECC4F27B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6350" y="1190595"/>
            <a:ext cx="5665137" cy="3495778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5C864D-9232-3BE0-2952-D5BC7E8A39D7}"/>
              </a:ext>
            </a:extLst>
          </p:cNvPr>
          <p:cNvSpPr txBox="1"/>
          <p:nvPr/>
        </p:nvSpPr>
        <p:spPr>
          <a:xfrm>
            <a:off x="342003" y="1202943"/>
            <a:ext cx="497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AE1E6E-B2FB-74EB-1F9D-4139936E9215}"/>
              </a:ext>
            </a:extLst>
          </p:cNvPr>
          <p:cNvSpPr txBox="1"/>
          <p:nvPr/>
        </p:nvSpPr>
        <p:spPr>
          <a:xfrm>
            <a:off x="6096223" y="1202943"/>
            <a:ext cx="497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4121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270FB5-19AE-2AA9-1798-D18210C89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535595"/>
              </p:ext>
            </p:extLst>
          </p:nvPr>
        </p:nvGraphicFramePr>
        <p:xfrm>
          <a:off x="895350" y="1600200"/>
          <a:ext cx="10267952" cy="32742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66988">
                  <a:extLst>
                    <a:ext uri="{9D8B030D-6E8A-4147-A177-3AD203B41FA5}">
                      <a16:colId xmlns:a16="http://schemas.microsoft.com/office/drawing/2014/main" val="4226439366"/>
                    </a:ext>
                  </a:extLst>
                </a:gridCol>
                <a:gridCol w="2566988">
                  <a:extLst>
                    <a:ext uri="{9D8B030D-6E8A-4147-A177-3AD203B41FA5}">
                      <a16:colId xmlns:a16="http://schemas.microsoft.com/office/drawing/2014/main" val="405785274"/>
                    </a:ext>
                  </a:extLst>
                </a:gridCol>
                <a:gridCol w="2566988">
                  <a:extLst>
                    <a:ext uri="{9D8B030D-6E8A-4147-A177-3AD203B41FA5}">
                      <a16:colId xmlns:a16="http://schemas.microsoft.com/office/drawing/2014/main" val="2985296656"/>
                    </a:ext>
                  </a:extLst>
                </a:gridCol>
                <a:gridCol w="2566988">
                  <a:extLst>
                    <a:ext uri="{9D8B030D-6E8A-4147-A177-3AD203B41FA5}">
                      <a16:colId xmlns:a16="http://schemas.microsoft.com/office/drawing/2014/main" val="3280481519"/>
                    </a:ext>
                  </a:extLst>
                </a:gridCol>
              </a:tblGrid>
              <a:tr h="4677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Class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Sensitivity (Recall)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Precision (PPV)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Balanced Accuracy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73542789"/>
                  </a:ext>
                </a:extLst>
              </a:tr>
              <a:tr h="4677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Background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0.59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0.99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0.775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74589437"/>
                  </a:ext>
                </a:extLst>
              </a:tr>
              <a:tr h="4677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BL-C(2)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0.51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0.20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0.71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03804759"/>
                  </a:ext>
                </a:extLst>
              </a:tr>
              <a:tr h="4677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Bullseye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0.93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0.21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0.92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53755534"/>
                  </a:ext>
                </a:extLst>
              </a:tr>
              <a:tr h="4677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H335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0.53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0.19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0.71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5924402"/>
                  </a:ext>
                </a:extLst>
              </a:tr>
              <a:tr h="4677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RedDot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0.89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0.13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0.91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35732080"/>
                  </a:ext>
                </a:extLst>
              </a:tr>
              <a:tr h="4677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Reloader23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0.91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0.18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dirty="0">
                          <a:effectLst/>
                        </a:rPr>
                        <a:t>0.92</a:t>
                      </a:r>
                      <a:endParaRPr lang="en-US" sz="2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7142943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F7EFEC6-825C-1DDF-DEF3-86EDE5062ED0}"/>
              </a:ext>
            </a:extLst>
          </p:cNvPr>
          <p:cNvSpPr txBox="1"/>
          <p:nvPr/>
        </p:nvSpPr>
        <p:spPr>
          <a:xfrm>
            <a:off x="3171190" y="1095345"/>
            <a:ext cx="6325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statistics for the random forest sampling.</a:t>
            </a:r>
          </a:p>
        </p:txBody>
      </p:sp>
    </p:spTree>
    <p:extLst>
      <p:ext uri="{BB962C8B-B14F-4D97-AF65-F5344CB8AC3E}">
        <p14:creationId xmlns:p14="http://schemas.microsoft.com/office/powerpoint/2010/main" val="2503779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9FEE87-1D9C-BC2D-D815-FAD0980D6B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" y="813752"/>
            <a:ext cx="7448224" cy="4596448"/>
          </a:xfrm>
          <a:prstGeom prst="rect">
            <a:avLst/>
          </a:prstGeom>
          <a:noFill/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A2647C-3AB9-20E3-2795-90329C300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232849"/>
              </p:ext>
            </p:extLst>
          </p:nvPr>
        </p:nvGraphicFramePr>
        <p:xfrm>
          <a:off x="7650154" y="1485900"/>
          <a:ext cx="4237046" cy="29016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18523">
                  <a:extLst>
                    <a:ext uri="{9D8B030D-6E8A-4147-A177-3AD203B41FA5}">
                      <a16:colId xmlns:a16="http://schemas.microsoft.com/office/drawing/2014/main" val="603341602"/>
                    </a:ext>
                  </a:extLst>
                </a:gridCol>
                <a:gridCol w="2118523">
                  <a:extLst>
                    <a:ext uri="{9D8B030D-6E8A-4147-A177-3AD203B41FA5}">
                      <a16:colId xmlns:a16="http://schemas.microsoft.com/office/drawing/2014/main" val="2148797031"/>
                    </a:ext>
                  </a:extLst>
                </a:gridCol>
              </a:tblGrid>
              <a:tr h="8078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Predicted Class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Particle Count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98396407"/>
                  </a:ext>
                </a:extLst>
              </a:tr>
              <a:tr h="5234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H335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445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07507188"/>
                  </a:ext>
                </a:extLst>
              </a:tr>
              <a:tr h="5234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BL-C(2)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355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00605857"/>
                  </a:ext>
                </a:extLst>
              </a:tr>
              <a:tr h="5234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Background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32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19897240"/>
                  </a:ext>
                </a:extLst>
              </a:tr>
              <a:tr h="5234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Bullseye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15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710471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6AEBF4F-C47C-5BB3-285A-429691826DDE}"/>
              </a:ext>
            </a:extLst>
          </p:cNvPr>
          <p:cNvSpPr txBox="1"/>
          <p:nvPr/>
        </p:nvSpPr>
        <p:spPr>
          <a:xfrm>
            <a:off x="1342390" y="5400645"/>
            <a:ext cx="5191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1: prediction class distribution.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CAF8B7-A127-6A35-7CC5-65A9E01A23CB}"/>
              </a:ext>
            </a:extLst>
          </p:cNvPr>
          <p:cNvSpPr txBox="1"/>
          <p:nvPr/>
        </p:nvSpPr>
        <p:spPr>
          <a:xfrm>
            <a:off x="8158952" y="949771"/>
            <a:ext cx="3219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1: Summary.</a:t>
            </a:r>
          </a:p>
        </p:txBody>
      </p:sp>
    </p:spTree>
    <p:extLst>
      <p:ext uri="{BB962C8B-B14F-4D97-AF65-F5344CB8AC3E}">
        <p14:creationId xmlns:p14="http://schemas.microsoft.com/office/powerpoint/2010/main" val="1231952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557B4-73F4-58EC-AF71-8FC78F0F7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F73CC1-841E-732A-2AAD-228F3289DA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" y="415290"/>
            <a:ext cx="8155810" cy="5033010"/>
          </a:xfrm>
          <a:prstGeom prst="rect">
            <a:avLst/>
          </a:prstGeom>
          <a:noFill/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E8D29F-7281-C71F-A5C3-B49395D80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706697"/>
              </p:ext>
            </p:extLst>
          </p:nvPr>
        </p:nvGraphicFramePr>
        <p:xfrm>
          <a:off x="8191500" y="1409700"/>
          <a:ext cx="3748088" cy="27225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74044">
                  <a:extLst>
                    <a:ext uri="{9D8B030D-6E8A-4147-A177-3AD203B41FA5}">
                      <a16:colId xmlns:a16="http://schemas.microsoft.com/office/drawing/2014/main" val="530218707"/>
                    </a:ext>
                  </a:extLst>
                </a:gridCol>
                <a:gridCol w="1874044">
                  <a:extLst>
                    <a:ext uri="{9D8B030D-6E8A-4147-A177-3AD203B41FA5}">
                      <a16:colId xmlns:a16="http://schemas.microsoft.com/office/drawing/2014/main" val="4224766794"/>
                    </a:ext>
                  </a:extLst>
                </a:gridCol>
              </a:tblGrid>
              <a:tr h="8762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Predicted Class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Particle Count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83996628"/>
                  </a:ext>
                </a:extLst>
              </a:tr>
              <a:tr h="4615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BL-C(2)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439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47470421"/>
                  </a:ext>
                </a:extLst>
              </a:tr>
              <a:tr h="4615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H335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393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78604389"/>
                  </a:ext>
                </a:extLst>
              </a:tr>
              <a:tr h="4615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Bullseye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24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70832708"/>
                  </a:ext>
                </a:extLst>
              </a:tr>
              <a:tr h="4615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Background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11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79061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9F58D5A-8999-15A9-5ACE-3C963DCCA0B6}"/>
              </a:ext>
            </a:extLst>
          </p:cNvPr>
          <p:cNvSpPr txBox="1"/>
          <p:nvPr/>
        </p:nvSpPr>
        <p:spPr>
          <a:xfrm>
            <a:off x="1532890" y="5400645"/>
            <a:ext cx="5191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2: prediction class distribution.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BFA3FA-2BFE-6520-AB47-E1C4812AA71A}"/>
              </a:ext>
            </a:extLst>
          </p:cNvPr>
          <p:cNvSpPr txBox="1"/>
          <p:nvPr/>
        </p:nvSpPr>
        <p:spPr>
          <a:xfrm>
            <a:off x="8408222" y="1009590"/>
            <a:ext cx="3219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3.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2: Summary.</a:t>
            </a:r>
          </a:p>
        </p:txBody>
      </p:sp>
    </p:spTree>
    <p:extLst>
      <p:ext uri="{BB962C8B-B14F-4D97-AF65-F5344CB8AC3E}">
        <p14:creationId xmlns:p14="http://schemas.microsoft.com/office/powerpoint/2010/main" val="3837837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6A006-ED4E-210B-387D-74BB70F35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58039E-82DF-0BE9-9B6D-686D01D9D6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1" y="895349"/>
            <a:ext cx="11149544" cy="4914901"/>
          </a:xfrm>
          <a:prstGeom prst="rect">
            <a:avLst/>
          </a:prstGeom>
          <a:noFill/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04D72D4-AD74-9D76-AD7B-FD257E57D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148252"/>
              </p:ext>
            </p:extLst>
          </p:nvPr>
        </p:nvGraphicFramePr>
        <p:xfrm>
          <a:off x="7696200" y="1352550"/>
          <a:ext cx="4057650" cy="20304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8825">
                  <a:extLst>
                    <a:ext uri="{9D8B030D-6E8A-4147-A177-3AD203B41FA5}">
                      <a16:colId xmlns:a16="http://schemas.microsoft.com/office/drawing/2014/main" val="1299163701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273534686"/>
                    </a:ext>
                  </a:extLst>
                </a:gridCol>
              </a:tblGrid>
              <a:tr h="4060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Predicted Class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Particle Count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8039728"/>
                  </a:ext>
                </a:extLst>
              </a:tr>
              <a:tr h="4060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Background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462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29047760"/>
                  </a:ext>
                </a:extLst>
              </a:tr>
              <a:tr h="4060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Reloader23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6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26648671"/>
                  </a:ext>
                </a:extLst>
              </a:tr>
              <a:tr h="4060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RedDot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3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88110970"/>
                  </a:ext>
                </a:extLst>
              </a:tr>
              <a:tr h="4060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Bullseye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1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5701395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E193061-AFA0-DCE6-7809-09F404EC2D43}"/>
              </a:ext>
            </a:extLst>
          </p:cNvPr>
          <p:cNvSpPr txBox="1"/>
          <p:nvPr/>
        </p:nvSpPr>
        <p:spPr>
          <a:xfrm>
            <a:off x="3780790" y="5762595"/>
            <a:ext cx="5191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6.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6: prediction class distribution.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7FEDF1-8EB1-3AFA-CF92-4CECF91736F6}"/>
              </a:ext>
            </a:extLst>
          </p:cNvPr>
          <p:cNvSpPr txBox="1"/>
          <p:nvPr/>
        </p:nvSpPr>
        <p:spPr>
          <a:xfrm>
            <a:off x="8158952" y="873571"/>
            <a:ext cx="3219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4.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6: Summary.</a:t>
            </a:r>
          </a:p>
        </p:txBody>
      </p:sp>
    </p:spTree>
    <p:extLst>
      <p:ext uri="{BB962C8B-B14F-4D97-AF65-F5344CB8AC3E}">
        <p14:creationId xmlns:p14="http://schemas.microsoft.com/office/powerpoint/2010/main" val="2101285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7A18C-6D69-8E31-6A2F-689EDF468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e chart with text&#10;&#10;AI-generated content may be incorrect.">
            <a:extLst>
              <a:ext uri="{FF2B5EF4-FFF2-40B4-BE49-F238E27FC236}">
                <a16:creationId xmlns:a16="http://schemas.microsoft.com/office/drawing/2014/main" id="{4C932878-F393-0667-8036-FCED18A18B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4" r="10400" b="6441"/>
          <a:stretch/>
        </p:blipFill>
        <p:spPr bwMode="auto">
          <a:xfrm>
            <a:off x="152599" y="295055"/>
            <a:ext cx="8754023" cy="6312694"/>
          </a:xfrm>
          <a:prstGeom prst="rect">
            <a:avLst/>
          </a:prstGeom>
          <a:noFill/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11F774E-4F1A-79F4-B4BC-57A1AC7DE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539794"/>
              </p:ext>
            </p:extLst>
          </p:nvPr>
        </p:nvGraphicFramePr>
        <p:xfrm>
          <a:off x="7696200" y="593150"/>
          <a:ext cx="4114800" cy="22057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37132077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95078085"/>
                    </a:ext>
                  </a:extLst>
                </a:gridCol>
              </a:tblGrid>
              <a:tr h="3849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Class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Proportion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31913083"/>
                  </a:ext>
                </a:extLst>
              </a:tr>
              <a:tr h="3405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H335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52.5%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65501691"/>
                  </a:ext>
                </a:extLst>
              </a:tr>
              <a:tr h="3405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BL-C(2)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41.9%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93186776"/>
                  </a:ext>
                </a:extLst>
              </a:tr>
              <a:tr h="3405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Background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3.8%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77991847"/>
                  </a:ext>
                </a:extLst>
              </a:tr>
              <a:tr h="3405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Bullseye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1.8%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1968716"/>
                  </a:ext>
                </a:extLst>
              </a:tr>
              <a:tr h="3405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Others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0%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475448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1F9DBB7-7FB9-F097-5940-6A6E7F2BA656}"/>
              </a:ext>
            </a:extLst>
          </p:cNvPr>
          <p:cNvSpPr txBox="1"/>
          <p:nvPr/>
        </p:nvSpPr>
        <p:spPr>
          <a:xfrm>
            <a:off x="5257800" y="6029295"/>
            <a:ext cx="655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7.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1: Pie chart for prediction class distribution.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7C5841-88F9-5ECE-581B-197FDF045917}"/>
              </a:ext>
            </a:extLst>
          </p:cNvPr>
          <p:cNvSpPr txBox="1"/>
          <p:nvPr/>
        </p:nvSpPr>
        <p:spPr>
          <a:xfrm>
            <a:off x="8143875" y="193040"/>
            <a:ext cx="3219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5.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1: Summary.</a:t>
            </a:r>
          </a:p>
        </p:txBody>
      </p:sp>
    </p:spTree>
    <p:extLst>
      <p:ext uri="{BB962C8B-B14F-4D97-AF65-F5344CB8AC3E}">
        <p14:creationId xmlns:p14="http://schemas.microsoft.com/office/powerpoint/2010/main" val="126831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76EC9-1B3F-A435-C9F2-6A3326DF7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hart of a pie chart&#10;&#10;AI-generated content may be incorrect.">
            <a:extLst>
              <a:ext uri="{FF2B5EF4-FFF2-40B4-BE49-F238E27FC236}">
                <a16:creationId xmlns:a16="http://schemas.microsoft.com/office/drawing/2014/main" id="{8CB609E8-ADAE-992F-5657-C6305BF733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2" r="10508" b="8235"/>
          <a:stretch/>
        </p:blipFill>
        <p:spPr bwMode="auto">
          <a:xfrm>
            <a:off x="190500" y="166777"/>
            <a:ext cx="9701748" cy="6310223"/>
          </a:xfrm>
          <a:prstGeom prst="rect">
            <a:avLst/>
          </a:prstGeom>
          <a:noFill/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AEDD2D-88AC-2FC1-BD6C-4E1D9D6DE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93505"/>
              </p:ext>
            </p:extLst>
          </p:nvPr>
        </p:nvGraphicFramePr>
        <p:xfrm>
          <a:off x="8820150" y="653410"/>
          <a:ext cx="3181350" cy="21850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0675">
                  <a:extLst>
                    <a:ext uri="{9D8B030D-6E8A-4147-A177-3AD203B41FA5}">
                      <a16:colId xmlns:a16="http://schemas.microsoft.com/office/drawing/2014/main" val="1473496718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3265120738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Class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Proportion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829067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BL-C(2)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50.6%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89903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H335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45.3%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3549993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Bullseye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2.8%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2442237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Background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1.3%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764237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Others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0%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422259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6B81707-27F3-0C78-9EAD-88A5AA584253}"/>
              </a:ext>
            </a:extLst>
          </p:cNvPr>
          <p:cNvSpPr txBox="1"/>
          <p:nvPr/>
        </p:nvSpPr>
        <p:spPr>
          <a:xfrm>
            <a:off x="5257800" y="6029295"/>
            <a:ext cx="655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8.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2: Pie chart for prediction class distribution.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56AEB4-3B65-6CE2-9644-DB21406BE88E}"/>
              </a:ext>
            </a:extLst>
          </p:cNvPr>
          <p:cNvSpPr txBox="1"/>
          <p:nvPr/>
        </p:nvSpPr>
        <p:spPr>
          <a:xfrm>
            <a:off x="8863802" y="225871"/>
            <a:ext cx="3219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6.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2: Summary.</a:t>
            </a:r>
          </a:p>
        </p:txBody>
      </p:sp>
    </p:spTree>
    <p:extLst>
      <p:ext uri="{BB962C8B-B14F-4D97-AF65-F5344CB8AC3E}">
        <p14:creationId xmlns:p14="http://schemas.microsoft.com/office/powerpoint/2010/main" val="1506690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87CB2-9F75-A353-5222-8F584A6AD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027817-8825-554F-213C-75DF6620FE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3" t="753" r="9527" b="7776"/>
          <a:stretch/>
        </p:blipFill>
        <p:spPr bwMode="auto">
          <a:xfrm>
            <a:off x="190501" y="168132"/>
            <a:ext cx="9728953" cy="6327918"/>
          </a:xfrm>
          <a:prstGeom prst="rect">
            <a:avLst/>
          </a:prstGeom>
          <a:noFill/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4D397D-E926-5F9F-18F7-5C811B15C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511966"/>
              </p:ext>
            </p:extLst>
          </p:nvPr>
        </p:nvGraphicFramePr>
        <p:xfrm>
          <a:off x="8782050" y="612200"/>
          <a:ext cx="3162300" cy="21850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81150">
                  <a:extLst>
                    <a:ext uri="{9D8B030D-6E8A-4147-A177-3AD203B41FA5}">
                      <a16:colId xmlns:a16="http://schemas.microsoft.com/office/drawing/2014/main" val="3887225790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3991157793"/>
                    </a:ext>
                  </a:extLst>
                </a:gridCol>
              </a:tblGrid>
              <a:tr h="3328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Class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Proportion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82368272"/>
                  </a:ext>
                </a:extLst>
              </a:tr>
              <a:tr h="3328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Background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97.9%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5573973"/>
                  </a:ext>
                </a:extLst>
              </a:tr>
              <a:tr h="3328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Reloader23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1.3%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52775716"/>
                  </a:ext>
                </a:extLst>
              </a:tr>
              <a:tr h="3328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Bullseye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0.2%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4834993"/>
                  </a:ext>
                </a:extLst>
              </a:tr>
              <a:tr h="3328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RedDot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0.6%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55510687"/>
                  </a:ext>
                </a:extLst>
              </a:tr>
              <a:tr h="3328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Others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0%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085463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47C339B-18FE-F75B-9132-778202D13575}"/>
              </a:ext>
            </a:extLst>
          </p:cNvPr>
          <p:cNvSpPr txBox="1"/>
          <p:nvPr/>
        </p:nvSpPr>
        <p:spPr>
          <a:xfrm>
            <a:off x="5295900" y="6029295"/>
            <a:ext cx="655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9.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6: Pie chart for prediction class distribution.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3C4AD-294A-916C-4D89-85548141BF24}"/>
              </a:ext>
            </a:extLst>
          </p:cNvPr>
          <p:cNvSpPr txBox="1"/>
          <p:nvPr/>
        </p:nvSpPr>
        <p:spPr>
          <a:xfrm>
            <a:off x="8768552" y="187771"/>
            <a:ext cx="3219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7.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6: Summary.</a:t>
            </a:r>
          </a:p>
        </p:txBody>
      </p:sp>
    </p:spTree>
    <p:extLst>
      <p:ext uri="{BB962C8B-B14F-4D97-AF65-F5344CB8AC3E}">
        <p14:creationId xmlns:p14="http://schemas.microsoft.com/office/powerpoint/2010/main" val="1370941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46492-EB6F-962D-5363-696FF2125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930854-0D84-7965-BE4C-FE83DE420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26216"/>
              </p:ext>
            </p:extLst>
          </p:nvPr>
        </p:nvGraphicFramePr>
        <p:xfrm>
          <a:off x="1028700" y="1504568"/>
          <a:ext cx="10134600" cy="28904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33650">
                  <a:extLst>
                    <a:ext uri="{9D8B030D-6E8A-4147-A177-3AD203B41FA5}">
                      <a16:colId xmlns:a16="http://schemas.microsoft.com/office/drawing/2014/main" val="1599622212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1901083369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1920176782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42140889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Query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Primary Brands Detected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Background Proportion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Conclusion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3910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Q1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H335, BL-C(2)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3.8%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High-confidence dual-brand match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06182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Q2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BL-C(2), H335 (+ Bullseye)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1.3%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Dual-brand IED with minor third brand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45293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Q6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(None)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97.9%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Likely non-watchlist origin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682912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292C06E-F1C4-FF51-633D-5EAD5A0644A6}"/>
              </a:ext>
            </a:extLst>
          </p:cNvPr>
          <p:cNvSpPr txBox="1"/>
          <p:nvPr/>
        </p:nvSpPr>
        <p:spPr>
          <a:xfrm>
            <a:off x="4092974" y="1104458"/>
            <a:ext cx="4006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8.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summary statistics.</a:t>
            </a:r>
          </a:p>
        </p:txBody>
      </p:sp>
    </p:spTree>
    <p:extLst>
      <p:ext uri="{BB962C8B-B14F-4D97-AF65-F5344CB8AC3E}">
        <p14:creationId xmlns:p14="http://schemas.microsoft.com/office/powerpoint/2010/main" val="4014406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DF6080-C0BA-CDC2-3AAD-6A8AC60B57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13821"/>
            <a:ext cx="10420350" cy="6430357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6D2C51-8FA0-52E8-ABCC-F3BCEF2505CC}"/>
              </a:ext>
            </a:extLst>
          </p:cNvPr>
          <p:cNvSpPr txBox="1"/>
          <p:nvPr/>
        </p:nvSpPr>
        <p:spPr>
          <a:xfrm>
            <a:off x="8858250" y="4610100"/>
            <a:ext cx="29527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10.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1: Cluster-wise prediction class distribution.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899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91CD5-5B6A-9625-E898-418859DFF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5D58A4-0A12-FFF3-2195-B207EC8BA1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44518"/>
            <a:ext cx="10153650" cy="6266420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8A75FC-AFD8-E2B9-1393-FF2DC3A497C5}"/>
              </a:ext>
            </a:extLst>
          </p:cNvPr>
          <p:cNvSpPr txBox="1"/>
          <p:nvPr/>
        </p:nvSpPr>
        <p:spPr>
          <a:xfrm>
            <a:off x="8858250" y="4610100"/>
            <a:ext cx="29527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11.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2: Cluster-wise prediction class distribution.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720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80705-8459-656A-D880-12B723304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1ADDEF-BC71-2520-47FD-2EE3DB3345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241778"/>
            <a:ext cx="10134600" cy="6254484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861B92-460A-C26C-8A8D-6FF463F80AB9}"/>
              </a:ext>
            </a:extLst>
          </p:cNvPr>
          <p:cNvSpPr txBox="1"/>
          <p:nvPr/>
        </p:nvSpPr>
        <p:spPr>
          <a:xfrm>
            <a:off x="8877300" y="4610100"/>
            <a:ext cx="29527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12.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6: Cluster-wise prediction class distribution.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563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18C904-BA94-85CA-6D94-27EECF5EC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314793"/>
              </p:ext>
            </p:extLst>
          </p:nvPr>
        </p:nvGraphicFramePr>
        <p:xfrm>
          <a:off x="1028700" y="1953957"/>
          <a:ext cx="10134600" cy="28904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5184">
                  <a:extLst>
                    <a:ext uri="{9D8B030D-6E8A-4147-A177-3AD203B41FA5}">
                      <a16:colId xmlns:a16="http://schemas.microsoft.com/office/drawing/2014/main" val="3316200590"/>
                    </a:ext>
                  </a:extLst>
                </a:gridCol>
                <a:gridCol w="3628981">
                  <a:extLst>
                    <a:ext uri="{9D8B030D-6E8A-4147-A177-3AD203B41FA5}">
                      <a16:colId xmlns:a16="http://schemas.microsoft.com/office/drawing/2014/main" val="3555266325"/>
                    </a:ext>
                  </a:extLst>
                </a:gridCol>
                <a:gridCol w="2499585">
                  <a:extLst>
                    <a:ext uri="{9D8B030D-6E8A-4147-A177-3AD203B41FA5}">
                      <a16:colId xmlns:a16="http://schemas.microsoft.com/office/drawing/2014/main" val="2293401745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9625772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Query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Clusters with Known Brand Matches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Main Brands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Verdict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240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Query 1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Clusters 1–4, 7, 9 (mostly H335, BL-C(2))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H335, BL-C(2)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Dual-brand IED (strong match)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82017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Query 2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Clusters 1, 3–7, 9 (H335, BL-C(2), Bullseye)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H335, BL-C(2), Bullseye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Multi-brand IED (mainly H335 + BL-C(2))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7485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Query 6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Mostly Background (tiny traces in cluster 1 &amp; 9)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>
                          <a:effectLst/>
                        </a:rPr>
                        <a:t>None dominant</a:t>
                      </a:r>
                      <a:endParaRPr lang="en-US" sz="2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dirty="0">
                          <a:effectLst/>
                        </a:rPr>
                        <a:t>Likely not from any watchlist brand</a:t>
                      </a:r>
                      <a:endParaRPr lang="en-US" sz="2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1635803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A03363-104B-20F8-508C-4E8FE63215A0}"/>
              </a:ext>
            </a:extLst>
          </p:cNvPr>
          <p:cNvSpPr txBox="1"/>
          <p:nvPr/>
        </p:nvSpPr>
        <p:spPr>
          <a:xfrm>
            <a:off x="2417962" y="1275908"/>
            <a:ext cx="73560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Table 9.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summary statistics for cluster wise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3494696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108DD34-095D-432C-90C0-5A4CB6EAC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78733"/>
            <a:ext cx="9989070" cy="505293"/>
          </a:xfrm>
        </p:spPr>
        <p:txBody>
          <a:bodyPr>
            <a:noAutofit/>
          </a:bodyPr>
          <a:lstStyle/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75EDB11-2610-305F-EE44-4914D2F5B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597076"/>
            <a:ext cx="10458450" cy="345117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/>
                <a:cs typeface="Times New Roman"/>
              </a:rPr>
              <a:t>Based on cluster-level classification and shape analysis, Query 1 and Query 2 clearly contain particles most similar to known watchlist brands, primarily H335 and BL-C(2). Query 2 also shows minor involvement of Bullseye.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/>
                <a:cs typeface="Times New Roman"/>
              </a:rPr>
              <a:t>Query 6, however, shows nearly full classification into the “Background” category, indicating no match to any of the five brands. This suggests the possible use of non-watch-listed powders in its construction.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8490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BF72B76-0F72-D0EC-5FA0-5C6CA365A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78733"/>
            <a:ext cx="9989070" cy="505293"/>
          </a:xfrm>
        </p:spPr>
        <p:txBody>
          <a:bodyPr>
            <a:noAutofit/>
          </a:bodyPr>
          <a:lstStyle/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5E93BA-4F8D-3FF8-AE3C-428DB7721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1558974"/>
            <a:ext cx="10618657" cy="46769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marR="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Saunders C.P., STAT 600, 601, and 602 Lecture Notes.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Jarvis, C. M., Kress, D., Hanka, J., Moorehead, W., &amp; Hietpas, J. (2023). Assessing the strengths and limitations of quantitative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micromorphometry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 for the forensic examination of small arms propellant towards brand identification. 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Forensic Science International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, 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353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, 111880.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Schindelin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, J., Arganda-Carreras, I., Frise, E.,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Kaynig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, V.,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Longair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, M., Pietzsch, T., ... &amp; Cardona, A. (2012). Fiji: an open-source platform for biological-image analysis. 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Nature methods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, 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9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(7), 676-682.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Hothorn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, T., &amp; Everitt, B. S. (2009). 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A handbook of statistical analyses using R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. Chapman and Hall/CRC.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 algn="just" fontAlgn="base">
              <a:buFont typeface="+mj-lt"/>
              <a:buAutoNum type="arabicPeriod"/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Yu Gothic Light" panose="020B0300000000000000" pitchFamily="34" charset="-128"/>
              </a:rPr>
              <a:t>Kassambara</a:t>
            </a:r>
            <a:r>
              <a:rPr lang="en-IN" sz="1800" dirty="0">
                <a:effectLst/>
                <a:latin typeface="Times New Roman" panose="02020603050405020304" pitchFamily="18" charset="0"/>
                <a:ea typeface="Yu Gothic Light" panose="020B0300000000000000" pitchFamily="34" charset="-128"/>
              </a:rPr>
              <a:t>, A. (2017). 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Yu Gothic Light" panose="020B0300000000000000" pitchFamily="34" charset="-128"/>
              </a:rPr>
              <a:t>Practical guide to cluster analysis in R: Unsupervised machine learning</a:t>
            </a:r>
            <a:r>
              <a:rPr lang="en-IN" sz="1800" dirty="0">
                <a:effectLst/>
                <a:latin typeface="Times New Roman" panose="02020603050405020304" pitchFamily="18" charset="0"/>
                <a:ea typeface="Yu Gothic Light" panose="020B0300000000000000" pitchFamily="34" charset="-128"/>
              </a:rPr>
              <a:t> (Vol. 1).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Yu Gothic Light" panose="020B0300000000000000" pitchFamily="34" charset="-128"/>
              </a:rPr>
              <a:t>Sthda</a:t>
            </a:r>
            <a:r>
              <a:rPr lang="en-IN" sz="1800" dirty="0">
                <a:effectLst/>
                <a:latin typeface="Times New Roman" panose="02020603050405020304" pitchFamily="18" charset="0"/>
                <a:ea typeface="Yu Gothic Light" panose="020B0300000000000000" pitchFamily="34" charset="-128"/>
              </a:rPr>
              <a:t>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 fontAlgn="base">
              <a:buFont typeface="+mj-lt"/>
              <a:buAutoNum type="arabicPeriod"/>
            </a:pPr>
            <a:r>
              <a:rPr lang="en-IN" sz="1800" dirty="0">
                <a:effectLst/>
                <a:latin typeface="Times New Roman" panose="02020603050405020304" pitchFamily="18" charset="0"/>
                <a:ea typeface="Yu Gothic Light" panose="020B0300000000000000" pitchFamily="34" charset="-128"/>
              </a:rPr>
              <a:t>ChatGPT. (02/2025). Used for debugging and code cleaning. Retrieved from </a:t>
            </a:r>
            <a:r>
              <a:rPr lang="en-IN" sz="18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Yu Gothic Light" panose="020B0300000000000000" pitchFamily="34" charset="-128"/>
                <a:hlinkClick r:id="rId2"/>
              </a:rPr>
              <a:t>OpenAI</a:t>
            </a:r>
            <a:r>
              <a:rPr lang="en-US" sz="1800" u="sng" dirty="0">
                <a:solidFill>
                  <a:srgbClr val="467886"/>
                </a:solidFill>
                <a:latin typeface="Times New Roman" panose="02020603050405020304" pitchFamily="18" charset="0"/>
                <a:ea typeface="Yu Gothic Light" panose="020B0300000000000000" pitchFamily="34" charset="-128"/>
              </a:rPr>
              <a:t>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189754"/>
      </p:ext>
    </p:extLst>
  </p:cSld>
  <p:clrMapOvr>
    <a:masterClrMapping/>
  </p:clrMapOvr>
</p:sld>
</file>

<file path=ppt/theme/theme1.xml><?xml version="1.0" encoding="utf-8"?>
<a:theme xmlns:a="http://schemas.openxmlformats.org/drawingml/2006/main" name="AdornVTI">
  <a:themeElements>
    <a:clrScheme name="GC1">
      <a:dk1>
        <a:sysClr val="windowText" lastClr="000000"/>
      </a:dk1>
      <a:lt1>
        <a:sysClr val="window" lastClr="FFFFFF"/>
      </a:lt1>
      <a:dk2>
        <a:srgbClr val="2C2830"/>
      </a:dk2>
      <a:lt2>
        <a:srgbClr val="E0DCE1"/>
      </a:lt2>
      <a:accent1>
        <a:srgbClr val="908193"/>
      </a:accent1>
      <a:accent2>
        <a:srgbClr val="A08889"/>
      </a:accent2>
      <a:accent3>
        <a:srgbClr val="B48C7E"/>
      </a:accent3>
      <a:accent4>
        <a:srgbClr val="809C9B"/>
      </a:accent4>
      <a:accent5>
        <a:srgbClr val="899F91"/>
      </a:accent5>
      <a:accent6>
        <a:srgbClr val="728274"/>
      </a:accent6>
      <a:hlink>
        <a:srgbClr val="837585"/>
      </a:hlink>
      <a:folHlink>
        <a:srgbClr val="677E83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1288</Words>
  <Application>Microsoft Office PowerPoint</Application>
  <PresentationFormat>Widescreen</PresentationFormat>
  <Paragraphs>196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Bembo</vt:lpstr>
      <vt:lpstr>Times New Roman</vt:lpstr>
      <vt:lpstr>AdornVTI</vt:lpstr>
      <vt:lpstr>SMALL ARMS Propellants (SAP) Project 4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Adhikari, Bibek</dc:creator>
  <cp:lastModifiedBy>Vodnala, Sai Ram - DSU Student</cp:lastModifiedBy>
  <cp:revision>6</cp:revision>
  <dcterms:created xsi:type="dcterms:W3CDTF">2025-03-31T23:43:44Z</dcterms:created>
  <dcterms:modified xsi:type="dcterms:W3CDTF">2025-05-07T15:58:59Z</dcterms:modified>
</cp:coreProperties>
</file>