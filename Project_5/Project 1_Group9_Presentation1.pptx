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6" r:id="rId16"/>
    <p:sldId id="277" r:id="rId17"/>
    <p:sldId id="274" r:id="rId18"/>
    <p:sldId id="275" r:id="rId19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A6B3D46D-7C79-4BD3-A485-D3734CFD3948}">
          <p14:sldIdLst>
            <p14:sldId id="256"/>
            <p14:sldId id="257"/>
            <p14:sldId id="258"/>
            <p14:sldId id="260"/>
            <p14:sldId id="262"/>
            <p14:sldId id="263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6"/>
            <p14:sldId id="277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2532F-DD6D-41C4-9358-1BCFB8E9D397}" v="2" dt="2025-02-12T13:59:40.393"/>
    <p1510:client id="{330593A1-9A7E-4511-8C76-483CF005AD19}" v="2" dt="2025-02-12T13:59:19.619"/>
    <p1510:client id="{8ED0F757-EA5A-4067-B473-453525782F8B}" v="2" dt="2025-02-12T14:03:46.995"/>
    <p1510:client id="{D9F7B983-214D-4776-BFE8-F8DFE2A68F63}" v="33" dt="2025-02-12T13:56:46.44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99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00174" y="2419350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9407271" y="0"/>
                </a:lnTo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99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66899" y="1962150"/>
            <a:ext cx="8458200" cy="42100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99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2695" y="548005"/>
            <a:ext cx="718312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7553" y="2461831"/>
            <a:ext cx="9610090" cy="2595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535112"/>
            <a:ext cx="12192000" cy="3844925"/>
            <a:chOff x="0" y="1535112"/>
            <a:chExt cx="12192000" cy="3844925"/>
          </a:xfrm>
        </p:grpSpPr>
        <p:sp>
          <p:nvSpPr>
            <p:cNvPr id="4" name="object 4"/>
            <p:cNvSpPr/>
            <p:nvPr/>
          </p:nvSpPr>
          <p:spPr>
            <a:xfrm>
              <a:off x="2324099" y="1543050"/>
              <a:ext cx="7543800" cy="3829050"/>
            </a:xfrm>
            <a:custGeom>
              <a:avLst/>
              <a:gdLst/>
              <a:ahLst/>
              <a:cxnLst/>
              <a:rect l="l" t="t" r="r" b="b"/>
              <a:pathLst>
                <a:path w="7543800" h="3829050">
                  <a:moveTo>
                    <a:pt x="0" y="3829050"/>
                  </a:moveTo>
                  <a:lnTo>
                    <a:pt x="7543800" y="3829050"/>
                  </a:lnTo>
                  <a:lnTo>
                    <a:pt x="7543800" y="0"/>
                  </a:lnTo>
                  <a:lnTo>
                    <a:pt x="0" y="0"/>
                  </a:lnTo>
                  <a:lnTo>
                    <a:pt x="0" y="3829050"/>
                  </a:lnTo>
                  <a:close/>
                </a:path>
              </a:pathLst>
            </a:custGeom>
            <a:ln w="15875">
              <a:solidFill>
                <a:srgbClr val="8399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3250"/>
              <a:ext cx="2457449" cy="619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4550" y="3143250"/>
              <a:ext cx="2457450" cy="6191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95574" y="3524250"/>
              <a:ext cx="6816090" cy="0"/>
            </a:xfrm>
            <a:custGeom>
              <a:avLst/>
              <a:gdLst/>
              <a:ahLst/>
              <a:cxnLst/>
              <a:rect l="l" t="t" r="r" b="b"/>
              <a:pathLst>
                <a:path w="6816090">
                  <a:moveTo>
                    <a:pt x="0" y="0"/>
                  </a:moveTo>
                  <a:lnTo>
                    <a:pt x="6815708" y="0"/>
                  </a:lnTo>
                </a:path>
              </a:pathLst>
            </a:custGeom>
            <a:ln w="15875">
              <a:solidFill>
                <a:srgbClr val="8399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24401" y="2569844"/>
            <a:ext cx="219202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/>
              <a:t>Project 1</a:t>
            </a:r>
            <a:endParaRPr spc="-50"/>
          </a:p>
        </p:txBody>
      </p:sp>
      <p:sp>
        <p:nvSpPr>
          <p:cNvPr id="9" name="object 9"/>
          <p:cNvSpPr txBox="1"/>
          <p:nvPr/>
        </p:nvSpPr>
        <p:spPr>
          <a:xfrm>
            <a:off x="4781548" y="3570976"/>
            <a:ext cx="190880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400" dirty="0"/>
              <a:t>02- 26 -2025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2004" y="4181538"/>
            <a:ext cx="5151120" cy="22890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lang="en-IN" sz="1400" dirty="0"/>
              <a:t>Group 9: Bibek Adhikari, Sai Ram Vodnala</a:t>
            </a:r>
            <a:endParaRPr sz="13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31720">
              <a:lnSpc>
                <a:spcPct val="100000"/>
              </a:lnSpc>
              <a:spcBef>
                <a:spcPts val="130"/>
              </a:spcBef>
            </a:pPr>
            <a:r>
              <a:rPr sz="3950" spc="-10"/>
              <a:t>Introduction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953135" y="1323022"/>
            <a:ext cx="195198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>
                <a:latin typeface="Times New Roman"/>
                <a:cs typeface="Times New Roman"/>
              </a:rPr>
              <a:t>Typing</a:t>
            </a:r>
            <a:r>
              <a:rPr sz="2000" b="1" spc="-6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Dynamics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9230" y="2018255"/>
            <a:ext cx="2703830" cy="34015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focused on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enhancing password-based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security systems by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typing dynamics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as a biometric feature.</a:t>
            </a:r>
          </a:p>
          <a:p>
            <a:r>
              <a:rPr sz="2000" spc="-35">
                <a:latin typeface="Times New Roman"/>
                <a:cs typeface="Times New Roman"/>
              </a:rPr>
              <a:t>Keystroke</a:t>
            </a:r>
            <a:r>
              <a:rPr sz="2000" spc="-70">
                <a:latin typeface="Times New Roman"/>
                <a:cs typeface="Times New Roman"/>
              </a:rPr>
              <a:t> </a:t>
            </a:r>
            <a:r>
              <a:rPr sz="2000" spc="-50">
                <a:latin typeface="Times New Roman"/>
                <a:cs typeface="Times New Roman"/>
              </a:rPr>
              <a:t>dynamics</a:t>
            </a:r>
            <a:r>
              <a:rPr sz="2000" spc="-45">
                <a:latin typeface="Times New Roman"/>
                <a:cs typeface="Times New Roman"/>
              </a:rPr>
              <a:t> </a:t>
            </a:r>
            <a:r>
              <a:rPr sz="2000" spc="-25">
                <a:latin typeface="Times New Roman"/>
                <a:cs typeface="Times New Roman"/>
              </a:rPr>
              <a:t>can </a:t>
            </a:r>
            <a:r>
              <a:rPr sz="2000" spc="-10">
                <a:latin typeface="Times New Roman"/>
                <a:cs typeface="Times New Roman"/>
              </a:rPr>
              <a:t>provide</a:t>
            </a:r>
            <a:r>
              <a:rPr sz="2000" spc="-11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an</a:t>
            </a:r>
            <a:r>
              <a:rPr sz="2000" spc="-85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additional </a:t>
            </a:r>
            <a:r>
              <a:rPr sz="2000" spc="-85">
                <a:latin typeface="Times New Roman"/>
                <a:cs typeface="Times New Roman"/>
              </a:rPr>
              <a:t>layer</a:t>
            </a:r>
            <a:r>
              <a:rPr sz="2000" spc="-5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of</a:t>
            </a:r>
            <a:r>
              <a:rPr sz="2000" spc="260">
                <a:latin typeface="Times New Roman"/>
                <a:cs typeface="Times New Roman"/>
              </a:rPr>
              <a:t> </a:t>
            </a:r>
            <a:r>
              <a:rPr sz="2000" spc="-40">
                <a:latin typeface="Times New Roman"/>
                <a:cs typeface="Times New Roman"/>
              </a:rPr>
              <a:t>security</a:t>
            </a:r>
            <a:r>
              <a:rPr sz="2000">
                <a:latin typeface="Times New Roman"/>
                <a:cs typeface="Times New Roman"/>
              </a:rPr>
              <a:t> </a:t>
            </a:r>
            <a:r>
              <a:rPr sz="2000" spc="-25">
                <a:latin typeface="Times New Roman"/>
                <a:cs typeface="Times New Roman"/>
              </a:rPr>
              <a:t>by </a:t>
            </a:r>
            <a:r>
              <a:rPr sz="2000" spc="-60">
                <a:latin typeface="Times New Roman"/>
                <a:cs typeface="Times New Roman"/>
              </a:rPr>
              <a:t>analyzing</a:t>
            </a:r>
            <a:r>
              <a:rPr sz="2000" spc="-65">
                <a:latin typeface="Times New Roman"/>
                <a:cs typeface="Times New Roman"/>
              </a:rPr>
              <a:t> </a:t>
            </a:r>
            <a:r>
              <a:rPr sz="2000" spc="-30">
                <a:latin typeface="Times New Roman"/>
                <a:cs typeface="Times New Roman"/>
              </a:rPr>
              <a:t>unique</a:t>
            </a:r>
            <a:r>
              <a:rPr sz="2000" spc="-70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typing behaviors.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36584" y="1318577"/>
            <a:ext cx="1690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0">
                <a:latin typeface="Times New Roman"/>
                <a:cs typeface="Times New Roman"/>
              </a:rPr>
              <a:t>Project</a:t>
            </a:r>
            <a:r>
              <a:rPr sz="2400" b="1" spc="-110">
                <a:latin typeface="Times New Roman"/>
                <a:cs typeface="Times New Roman"/>
              </a:rPr>
              <a:t> </a:t>
            </a:r>
            <a:r>
              <a:rPr sz="2400" b="1" spc="-40">
                <a:latin typeface="Times New Roman"/>
                <a:cs typeface="Times New Roman"/>
              </a:rPr>
              <a:t>Goal</a:t>
            </a:r>
            <a:r>
              <a:rPr sz="2400" spc="-4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36584" y="2052891"/>
            <a:ext cx="244221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users typing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dynamics (keystroke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timing) to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identify a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 for when a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can start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"learned"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typing behaviors.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7953" y="1325181"/>
            <a:ext cx="152781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5">
                <a:latin typeface="Times New Roman"/>
                <a:cs typeface="Times New Roman"/>
              </a:rPr>
              <a:t>Study</a:t>
            </a:r>
            <a:r>
              <a:rPr sz="2000" b="1" spc="-100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Design</a:t>
            </a:r>
            <a:r>
              <a:rPr sz="2000" spc="-1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57953" y="1935797"/>
            <a:ext cx="3144520" cy="33864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192405" indent="-28638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b="1">
                <a:latin typeface="Times New Roman"/>
                <a:cs typeface="Times New Roman"/>
              </a:rPr>
              <a:t>Passcode</a:t>
            </a:r>
            <a:r>
              <a:rPr sz="2000">
                <a:latin typeface="Times New Roman"/>
                <a:cs typeface="Times New Roman"/>
              </a:rPr>
              <a:t>: </a:t>
            </a:r>
            <a:r>
              <a:rPr sz="2000" b="1" spc="-20">
                <a:latin typeface="Times New Roman"/>
                <a:cs typeface="Times New Roman"/>
              </a:rPr>
              <a:t>“.tie5Roanl”</a:t>
            </a:r>
            <a:r>
              <a:rPr sz="2000" b="1" spc="-35">
                <a:latin typeface="Times New Roman"/>
                <a:cs typeface="Times New Roman"/>
              </a:rPr>
              <a:t> </a:t>
            </a:r>
            <a:r>
              <a:rPr sz="2000" spc="-50">
                <a:latin typeface="Times New Roman"/>
                <a:cs typeface="Times New Roman"/>
              </a:rPr>
              <a:t>– </a:t>
            </a:r>
            <a:r>
              <a:rPr sz="2000" spc="-40">
                <a:latin typeface="Times New Roman"/>
                <a:cs typeface="Times New Roman"/>
              </a:rPr>
              <a:t>designed</a:t>
            </a:r>
            <a:r>
              <a:rPr sz="2000" spc="-75">
                <a:latin typeface="Times New Roman"/>
                <a:cs typeface="Times New Roman"/>
              </a:rPr>
              <a:t> </a:t>
            </a:r>
            <a:r>
              <a:rPr sz="2000" spc="-20">
                <a:latin typeface="Times New Roman"/>
                <a:cs typeface="Times New Roman"/>
              </a:rPr>
              <a:t>as</a:t>
            </a:r>
            <a:r>
              <a:rPr sz="2000" spc="-9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a</a:t>
            </a:r>
            <a:r>
              <a:rPr sz="2000" spc="-3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strong, </a:t>
            </a:r>
            <a:r>
              <a:rPr sz="2000" b="1" spc="-35">
                <a:latin typeface="Times New Roman"/>
                <a:cs typeface="Times New Roman"/>
              </a:rPr>
              <a:t>representative</a:t>
            </a:r>
            <a:r>
              <a:rPr sz="2000" b="1" spc="-1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password</a:t>
            </a:r>
            <a:r>
              <a:rPr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98450" marR="20955" indent="-28638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b="1" spc="-25">
                <a:latin typeface="Times New Roman"/>
                <a:cs typeface="Times New Roman"/>
              </a:rPr>
              <a:t>Subjects</a:t>
            </a:r>
            <a:r>
              <a:rPr sz="2000" spc="-25">
                <a:latin typeface="Times New Roman"/>
                <a:cs typeface="Times New Roman"/>
              </a:rPr>
              <a:t>:</a:t>
            </a:r>
            <a:r>
              <a:rPr sz="2000" spc="-40">
                <a:latin typeface="Times New Roman"/>
                <a:cs typeface="Times New Roman"/>
              </a:rPr>
              <a:t> </a:t>
            </a:r>
            <a:r>
              <a:rPr sz="2000" spc="-65">
                <a:latin typeface="Times New Roman"/>
                <a:cs typeface="Times New Roman"/>
              </a:rPr>
              <a:t>51</a:t>
            </a:r>
            <a:r>
              <a:rPr sz="2000" spc="-60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participants recruited</a:t>
            </a:r>
            <a:r>
              <a:rPr sz="2000" spc="-8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at</a:t>
            </a:r>
            <a:r>
              <a:rPr sz="2000" spc="-80">
                <a:latin typeface="Times New Roman"/>
                <a:cs typeface="Times New Roman"/>
              </a:rPr>
              <a:t> </a:t>
            </a:r>
            <a:r>
              <a:rPr sz="2000" spc="-45">
                <a:latin typeface="Times New Roman"/>
                <a:cs typeface="Times New Roman"/>
              </a:rPr>
              <a:t>Carnegie</a:t>
            </a:r>
            <a:r>
              <a:rPr sz="2000" spc="-80">
                <a:latin typeface="Times New Roman"/>
                <a:cs typeface="Times New Roman"/>
              </a:rPr>
              <a:t> </a:t>
            </a:r>
            <a:r>
              <a:rPr sz="2000" spc="-35">
                <a:latin typeface="Times New Roman"/>
                <a:cs typeface="Times New Roman"/>
              </a:rPr>
              <a:t>Mellon </a:t>
            </a:r>
            <a:r>
              <a:rPr sz="2000" spc="-55">
                <a:latin typeface="Times New Roman"/>
                <a:cs typeface="Times New Roman"/>
              </a:rPr>
              <a:t>University</a:t>
            </a:r>
            <a:r>
              <a:rPr sz="2000" spc="-35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(CMU).</a:t>
            </a:r>
            <a:endParaRPr sz="2000">
              <a:latin typeface="Times New Roman"/>
              <a:cs typeface="Times New Roman"/>
            </a:endParaRPr>
          </a:p>
          <a:p>
            <a:pPr marL="298450" marR="212725" indent="-28638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b="1">
                <a:latin typeface="Times New Roman"/>
                <a:cs typeface="Times New Roman"/>
              </a:rPr>
              <a:t>Sessions</a:t>
            </a:r>
            <a:r>
              <a:rPr sz="2000">
                <a:latin typeface="Times New Roman"/>
                <a:cs typeface="Times New Roman"/>
              </a:rPr>
              <a:t>:</a:t>
            </a:r>
            <a:r>
              <a:rPr sz="2000" spc="-2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8</a:t>
            </a:r>
            <a:r>
              <a:rPr sz="2000" spc="-70">
                <a:latin typeface="Times New Roman"/>
                <a:cs typeface="Times New Roman"/>
              </a:rPr>
              <a:t> </a:t>
            </a:r>
            <a:r>
              <a:rPr sz="2000" spc="-45">
                <a:latin typeface="Times New Roman"/>
                <a:cs typeface="Times New Roman"/>
              </a:rPr>
              <a:t>sessions,</a:t>
            </a:r>
            <a:r>
              <a:rPr sz="2000" spc="-2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1</a:t>
            </a:r>
            <a:r>
              <a:rPr sz="2000" spc="-70">
                <a:latin typeface="Times New Roman"/>
                <a:cs typeface="Times New Roman"/>
              </a:rPr>
              <a:t> </a:t>
            </a:r>
            <a:r>
              <a:rPr sz="2000" spc="-25">
                <a:latin typeface="Times New Roman"/>
                <a:cs typeface="Times New Roman"/>
              </a:rPr>
              <a:t>per </a:t>
            </a:r>
            <a:r>
              <a:rPr sz="2000" spc="-20">
                <a:latin typeface="Times New Roman"/>
                <a:cs typeface="Times New Roman"/>
              </a:rPr>
              <a:t>day.</a:t>
            </a:r>
            <a:endParaRPr sz="2000">
              <a:latin typeface="Times New Roman"/>
              <a:cs typeface="Times New Roman"/>
            </a:endParaRPr>
          </a:p>
          <a:p>
            <a:pPr marL="298450" marR="5080" indent="-28638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b="1">
                <a:latin typeface="Times New Roman"/>
                <a:cs typeface="Times New Roman"/>
              </a:rPr>
              <a:t>Repetitions</a:t>
            </a:r>
            <a:r>
              <a:rPr sz="2000">
                <a:latin typeface="Times New Roman"/>
                <a:cs typeface="Times New Roman"/>
              </a:rPr>
              <a:t>:</a:t>
            </a:r>
            <a:r>
              <a:rPr sz="2000" spc="-9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Each</a:t>
            </a:r>
            <a:r>
              <a:rPr sz="2000" spc="-125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subject </a:t>
            </a:r>
            <a:r>
              <a:rPr sz="2000" spc="-20">
                <a:latin typeface="Times New Roman"/>
                <a:cs typeface="Times New Roman"/>
              </a:rPr>
              <a:t>typed</a:t>
            </a:r>
            <a:r>
              <a:rPr sz="2000" spc="-8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the</a:t>
            </a:r>
            <a:r>
              <a:rPr sz="2000" spc="-65">
                <a:latin typeface="Times New Roman"/>
                <a:cs typeface="Times New Roman"/>
              </a:rPr>
              <a:t> </a:t>
            </a:r>
            <a:r>
              <a:rPr sz="2000" spc="-20">
                <a:latin typeface="Times New Roman"/>
                <a:cs typeface="Times New Roman"/>
              </a:rPr>
              <a:t>passcode</a:t>
            </a:r>
            <a:r>
              <a:rPr sz="2000" spc="-45">
                <a:latin typeface="Times New Roman"/>
                <a:cs typeface="Times New Roman"/>
              </a:rPr>
              <a:t> </a:t>
            </a:r>
            <a:r>
              <a:rPr sz="2000" b="1">
                <a:latin typeface="Times New Roman"/>
                <a:cs typeface="Times New Roman"/>
              </a:rPr>
              <a:t>50</a:t>
            </a:r>
            <a:r>
              <a:rPr sz="2000" b="1" spc="-90">
                <a:latin typeface="Times New Roman"/>
                <a:cs typeface="Times New Roman"/>
              </a:rPr>
              <a:t> </a:t>
            </a:r>
            <a:r>
              <a:rPr sz="2000" b="1" spc="-20">
                <a:latin typeface="Times New Roman"/>
                <a:cs typeface="Times New Roman"/>
              </a:rPr>
              <a:t>times </a:t>
            </a:r>
            <a:r>
              <a:rPr sz="2000" b="1" spc="-35">
                <a:latin typeface="Times New Roman"/>
                <a:cs typeface="Times New Roman"/>
              </a:rPr>
              <a:t>per</a:t>
            </a:r>
            <a:r>
              <a:rPr sz="2000" b="1" spc="-80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session</a:t>
            </a:r>
            <a:r>
              <a:rPr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675" y="517524"/>
            <a:ext cx="647827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35"/>
              <a:t>Participant</a:t>
            </a:r>
            <a:r>
              <a:rPr sz="3950" spc="-125"/>
              <a:t> </a:t>
            </a:r>
            <a:r>
              <a:rPr sz="3950"/>
              <a:t>and</a:t>
            </a:r>
            <a:r>
              <a:rPr sz="3950" spc="-125"/>
              <a:t> </a:t>
            </a:r>
            <a:r>
              <a:rPr sz="3950" spc="-55"/>
              <a:t>Password</a:t>
            </a:r>
            <a:r>
              <a:rPr sz="3950" spc="-125"/>
              <a:t> </a:t>
            </a:r>
            <a:r>
              <a:rPr sz="3950" spc="-10"/>
              <a:t>Details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1061719" y="1466786"/>
            <a:ext cx="7953375" cy="469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>
                <a:latin typeface="Times New Roman"/>
                <a:cs typeface="Times New Roman"/>
              </a:rPr>
              <a:t>Participant </a:t>
            </a:r>
            <a:r>
              <a:rPr sz="1800" b="1" spc="-10">
                <a:latin typeface="Times New Roman"/>
                <a:cs typeface="Times New Roman"/>
              </a:rPr>
              <a:t>Demographics</a:t>
            </a:r>
            <a:r>
              <a:rPr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b="1" spc="-135">
                <a:latin typeface="Times New Roman"/>
                <a:cs typeface="Times New Roman"/>
              </a:rPr>
              <a:t>51</a:t>
            </a:r>
            <a:r>
              <a:rPr sz="1800" b="1" spc="25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subjects</a:t>
            </a:r>
            <a:r>
              <a:rPr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755650" algn="l"/>
              </a:tabLst>
            </a:pPr>
            <a:r>
              <a:rPr sz="1800" b="1">
                <a:latin typeface="Times New Roman"/>
                <a:cs typeface="Times New Roman"/>
              </a:rPr>
              <a:t>30</a:t>
            </a:r>
            <a:r>
              <a:rPr sz="1800" b="1" spc="-85">
                <a:latin typeface="Times New Roman"/>
                <a:cs typeface="Times New Roman"/>
              </a:rPr>
              <a:t> </a:t>
            </a:r>
            <a:r>
              <a:rPr sz="1800" b="1">
                <a:latin typeface="Times New Roman"/>
                <a:cs typeface="Times New Roman"/>
              </a:rPr>
              <a:t>males</a:t>
            </a:r>
            <a:r>
              <a:rPr sz="1800">
                <a:latin typeface="Times New Roman"/>
                <a:cs typeface="Times New Roman"/>
              </a:rPr>
              <a:t>,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 b="1" spc="-125">
                <a:latin typeface="Times New Roman"/>
                <a:cs typeface="Times New Roman"/>
              </a:rPr>
              <a:t>21</a:t>
            </a:r>
            <a:r>
              <a:rPr sz="1800" b="1" spc="10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females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130"/>
              </a:lnSpc>
              <a:buFont typeface="Arial MT"/>
              <a:buChar char="•"/>
              <a:tabLst>
                <a:tab pos="755650" algn="l"/>
              </a:tabLst>
            </a:pPr>
            <a:r>
              <a:rPr sz="1800" b="1">
                <a:latin typeface="Times New Roman"/>
                <a:cs typeface="Times New Roman"/>
              </a:rPr>
              <a:t>8</a:t>
            </a:r>
            <a:r>
              <a:rPr sz="1800" b="1" spc="-90">
                <a:latin typeface="Times New Roman"/>
                <a:cs typeface="Times New Roman"/>
              </a:rPr>
              <a:t> </a:t>
            </a:r>
            <a:r>
              <a:rPr sz="1800" b="1" spc="-25">
                <a:latin typeface="Times New Roman"/>
                <a:cs typeface="Times New Roman"/>
              </a:rPr>
              <a:t>left-</a:t>
            </a:r>
            <a:r>
              <a:rPr sz="1800" b="1">
                <a:latin typeface="Times New Roman"/>
                <a:cs typeface="Times New Roman"/>
              </a:rPr>
              <a:t>handed</a:t>
            </a:r>
            <a:r>
              <a:rPr sz="1800">
                <a:latin typeface="Times New Roman"/>
                <a:cs typeface="Times New Roman"/>
              </a:rPr>
              <a:t>,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 b="1">
                <a:latin typeface="Times New Roman"/>
                <a:cs typeface="Times New Roman"/>
              </a:rPr>
              <a:t>43</a:t>
            </a:r>
            <a:r>
              <a:rPr sz="1800" b="1" spc="-20">
                <a:latin typeface="Times New Roman"/>
                <a:cs typeface="Times New Roman"/>
              </a:rPr>
              <a:t> </a:t>
            </a:r>
            <a:r>
              <a:rPr sz="1800" b="1" spc="-40">
                <a:latin typeface="Times New Roman"/>
                <a:cs typeface="Times New Roman"/>
              </a:rPr>
              <a:t>right-</a:t>
            </a:r>
            <a:r>
              <a:rPr sz="1800" b="1" spc="-10">
                <a:latin typeface="Times New Roman"/>
                <a:cs typeface="Times New Roman"/>
              </a:rPr>
              <a:t>handed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755650" algn="l"/>
              </a:tabLst>
            </a:pPr>
            <a:r>
              <a:rPr sz="1800" spc="-70">
                <a:latin typeface="Times New Roman"/>
                <a:cs typeface="Times New Roman"/>
              </a:rPr>
              <a:t>Age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 spc="-35">
                <a:latin typeface="Times New Roman"/>
                <a:cs typeface="Times New Roman"/>
              </a:rPr>
              <a:t>range:</a:t>
            </a:r>
            <a:r>
              <a:rPr sz="1800" spc="-75">
                <a:latin typeface="Times New Roman"/>
                <a:cs typeface="Times New Roman"/>
              </a:rPr>
              <a:t> </a:t>
            </a:r>
            <a:r>
              <a:rPr sz="1800" b="1" spc="-65">
                <a:latin typeface="Times New Roman"/>
                <a:cs typeface="Times New Roman"/>
              </a:rPr>
              <a:t>18–70</a:t>
            </a:r>
            <a:r>
              <a:rPr sz="1800" b="1" spc="-50">
                <a:latin typeface="Times New Roman"/>
                <a:cs typeface="Times New Roman"/>
              </a:rPr>
              <a:t> </a:t>
            </a:r>
            <a:r>
              <a:rPr sz="1800" b="1" spc="-30">
                <a:latin typeface="Times New Roman"/>
                <a:cs typeface="Times New Roman"/>
              </a:rPr>
              <a:t>years</a:t>
            </a:r>
            <a:r>
              <a:rPr sz="1800" b="1" spc="-65">
                <a:latin typeface="Times New Roman"/>
                <a:cs typeface="Times New Roman"/>
              </a:rPr>
              <a:t> </a:t>
            </a:r>
            <a:r>
              <a:rPr sz="1800" spc="-55">
                <a:latin typeface="Times New Roman"/>
                <a:cs typeface="Times New Roman"/>
              </a:rPr>
              <a:t>(Median: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 spc="-30">
                <a:latin typeface="Times New Roman"/>
                <a:cs typeface="Times New Roman"/>
              </a:rPr>
              <a:t>31–40 </a:t>
            </a:r>
            <a:r>
              <a:rPr sz="1800" spc="-10">
                <a:latin typeface="Times New Roman"/>
                <a:cs typeface="Times New Roman"/>
              </a:rPr>
              <a:t>years).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spc="-25">
                <a:latin typeface="Times New Roman"/>
                <a:cs typeface="Times New Roman"/>
              </a:rPr>
              <a:t>Password</a:t>
            </a:r>
            <a:r>
              <a:rPr sz="1800" b="1" spc="-50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Design</a:t>
            </a:r>
            <a:r>
              <a:rPr sz="1800" spc="-1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30">
                <a:latin typeface="Times New Roman"/>
                <a:cs typeface="Times New Roman"/>
              </a:rPr>
              <a:t>Created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 spc="-40">
                <a:latin typeface="Times New Roman"/>
                <a:cs typeface="Times New Roman"/>
              </a:rPr>
              <a:t>using </a:t>
            </a:r>
            <a:r>
              <a:rPr sz="1800">
                <a:latin typeface="Times New Roman"/>
                <a:cs typeface="Times New Roman"/>
              </a:rPr>
              <a:t>a</a:t>
            </a:r>
            <a:r>
              <a:rPr sz="1800" spc="-30">
                <a:latin typeface="Times New Roman"/>
                <a:cs typeface="Times New Roman"/>
              </a:rPr>
              <a:t> </a:t>
            </a:r>
            <a:r>
              <a:rPr sz="1800" b="1" spc="-20">
                <a:latin typeface="Times New Roman"/>
                <a:cs typeface="Times New Roman"/>
              </a:rPr>
              <a:t>password</a:t>
            </a:r>
            <a:r>
              <a:rPr sz="1800" b="1" spc="-70">
                <a:latin typeface="Times New Roman"/>
                <a:cs typeface="Times New Roman"/>
              </a:rPr>
              <a:t> </a:t>
            </a:r>
            <a:r>
              <a:rPr sz="1800" b="1" spc="-25">
                <a:latin typeface="Times New Roman"/>
                <a:cs typeface="Times New Roman"/>
              </a:rPr>
              <a:t>generator</a:t>
            </a:r>
            <a:r>
              <a:rPr sz="1800" b="1" spc="-65">
                <a:latin typeface="Times New Roman"/>
                <a:cs typeface="Times New Roman"/>
              </a:rPr>
              <a:t> </a:t>
            </a:r>
            <a:r>
              <a:rPr sz="1800" b="1">
                <a:latin typeface="Times New Roman"/>
                <a:cs typeface="Times New Roman"/>
              </a:rPr>
              <a:t>and</a:t>
            </a:r>
            <a:r>
              <a:rPr sz="1800" b="1" spc="-70">
                <a:latin typeface="Times New Roman"/>
                <a:cs typeface="Times New Roman"/>
              </a:rPr>
              <a:t> </a:t>
            </a:r>
            <a:r>
              <a:rPr sz="1800" b="1">
                <a:latin typeface="Times New Roman"/>
                <a:cs typeface="Times New Roman"/>
              </a:rPr>
              <a:t>strength</a:t>
            </a:r>
            <a:r>
              <a:rPr sz="1800" b="1" spc="-65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checker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ts val="213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10">
                <a:latin typeface="Times New Roman"/>
                <a:cs typeface="Times New Roman"/>
              </a:rPr>
              <a:t>Criteria: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130"/>
              </a:lnSpc>
              <a:buFont typeface="Arial MT"/>
              <a:buChar char="•"/>
              <a:tabLst>
                <a:tab pos="755650" algn="l"/>
              </a:tabLst>
            </a:pPr>
            <a:r>
              <a:rPr sz="1800" b="1" spc="-114">
                <a:latin typeface="Times New Roman"/>
                <a:cs typeface="Times New Roman"/>
              </a:rPr>
              <a:t>10</a:t>
            </a:r>
            <a:r>
              <a:rPr sz="1800" b="1" spc="-30">
                <a:latin typeface="Times New Roman"/>
                <a:cs typeface="Times New Roman"/>
              </a:rPr>
              <a:t> </a:t>
            </a:r>
            <a:r>
              <a:rPr sz="1800" b="1" spc="-25">
                <a:latin typeface="Times New Roman"/>
                <a:cs typeface="Times New Roman"/>
              </a:rPr>
              <a:t>characters</a:t>
            </a:r>
            <a:r>
              <a:rPr sz="1800" b="1" spc="-80">
                <a:latin typeface="Times New Roman"/>
                <a:cs typeface="Times New Roman"/>
              </a:rPr>
              <a:t> </a:t>
            </a:r>
            <a:r>
              <a:rPr sz="1800" spc="-40">
                <a:latin typeface="Times New Roman"/>
                <a:cs typeface="Times New Roman"/>
              </a:rPr>
              <a:t>(letters,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numbers,</a:t>
            </a:r>
            <a:r>
              <a:rPr sz="1800" spc="1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punctuation).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755650" algn="l"/>
              </a:tabLst>
            </a:pPr>
            <a:r>
              <a:rPr sz="1800" spc="-40">
                <a:latin typeface="Times New Roman"/>
                <a:cs typeface="Times New Roman"/>
              </a:rPr>
              <a:t>Modified</a:t>
            </a:r>
            <a:r>
              <a:rPr sz="1800" spc="-7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for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punctuation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 spc="-55">
                <a:latin typeface="Times New Roman"/>
                <a:cs typeface="Times New Roman"/>
              </a:rPr>
              <a:t>casing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to</a:t>
            </a:r>
            <a:r>
              <a:rPr sz="1800" spc="10">
                <a:latin typeface="Times New Roman"/>
                <a:cs typeface="Times New Roman"/>
              </a:rPr>
              <a:t> </a:t>
            </a:r>
            <a:r>
              <a:rPr sz="1800" spc="-30">
                <a:latin typeface="Times New Roman"/>
                <a:cs typeface="Times New Roman"/>
              </a:rPr>
              <a:t>reflect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</a:t>
            </a:r>
            <a:r>
              <a:rPr sz="1800" spc="-3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“strong”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password.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spc="-25">
                <a:latin typeface="Times New Roman"/>
                <a:cs typeface="Times New Roman"/>
              </a:rPr>
              <a:t>Rated</a:t>
            </a:r>
            <a:r>
              <a:rPr sz="1800" spc="-95">
                <a:latin typeface="Times New Roman"/>
                <a:cs typeface="Times New Roman"/>
              </a:rPr>
              <a:t> </a:t>
            </a:r>
            <a:r>
              <a:rPr sz="1800" b="1">
                <a:latin typeface="Times New Roman"/>
                <a:cs typeface="Times New Roman"/>
              </a:rPr>
              <a:t>strong</a:t>
            </a:r>
            <a:r>
              <a:rPr sz="1800" b="1" spc="-85">
                <a:latin typeface="Times New Roman"/>
                <a:cs typeface="Times New Roman"/>
              </a:rPr>
              <a:t> </a:t>
            </a:r>
            <a:r>
              <a:rPr sz="1800" spc="-30">
                <a:latin typeface="Times New Roman"/>
                <a:cs typeface="Times New Roman"/>
              </a:rPr>
              <a:t>because</a:t>
            </a:r>
            <a:r>
              <a:rPr sz="1800" spc="-7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it</a:t>
            </a:r>
            <a:r>
              <a:rPr sz="1800" spc="-7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includes: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755650" algn="l"/>
              </a:tabLst>
            </a:pPr>
            <a:r>
              <a:rPr sz="1800" spc="-25">
                <a:latin typeface="Times New Roman"/>
                <a:cs typeface="Times New Roman"/>
              </a:rPr>
              <a:t>More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than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 b="1">
                <a:latin typeface="Times New Roman"/>
                <a:cs typeface="Times New Roman"/>
              </a:rPr>
              <a:t>7</a:t>
            </a:r>
            <a:r>
              <a:rPr sz="1800" b="1" spc="-75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characters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755650" algn="l"/>
              </a:tabLst>
            </a:pPr>
            <a:r>
              <a:rPr sz="1800">
                <a:latin typeface="Times New Roman"/>
                <a:cs typeface="Times New Roman"/>
              </a:rPr>
              <a:t>A</a:t>
            </a:r>
            <a:r>
              <a:rPr sz="1800" spc="-80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capital</a:t>
            </a:r>
            <a:r>
              <a:rPr sz="1800" b="1" spc="-95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letter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130"/>
              </a:lnSpc>
              <a:buFont typeface="Arial MT"/>
              <a:buChar char="•"/>
              <a:tabLst>
                <a:tab pos="755650" algn="l"/>
              </a:tabLst>
            </a:pPr>
            <a:r>
              <a:rPr sz="1800">
                <a:latin typeface="Times New Roman"/>
                <a:cs typeface="Times New Roman"/>
              </a:rPr>
              <a:t>A</a:t>
            </a:r>
            <a:r>
              <a:rPr sz="1800" spc="-90">
                <a:latin typeface="Times New Roman"/>
                <a:cs typeface="Times New Roman"/>
              </a:rPr>
              <a:t> </a:t>
            </a:r>
            <a:r>
              <a:rPr sz="1800" b="1" spc="-10">
                <a:latin typeface="Times New Roman"/>
                <a:cs typeface="Times New Roman"/>
              </a:rPr>
              <a:t>number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755650" algn="l"/>
              </a:tabLst>
            </a:pPr>
            <a:r>
              <a:rPr sz="1800" b="1" spc="-10">
                <a:latin typeface="Times New Roman"/>
                <a:cs typeface="Times New Roman"/>
              </a:rPr>
              <a:t>Punctuation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>
                <a:latin typeface="Times New Roman"/>
                <a:cs typeface="Times New Roman"/>
              </a:rPr>
              <a:t>The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top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30">
                <a:latin typeface="Times New Roman"/>
                <a:cs typeface="Times New Roman"/>
              </a:rPr>
              <a:t>rating</a:t>
            </a:r>
            <a:r>
              <a:rPr sz="1800">
                <a:latin typeface="Times New Roman"/>
                <a:cs typeface="Times New Roman"/>
              </a:rPr>
              <a:t> </a:t>
            </a:r>
            <a:r>
              <a:rPr sz="1800" spc="-30">
                <a:latin typeface="Times New Roman"/>
                <a:cs typeface="Times New Roman"/>
              </a:rPr>
              <a:t>requires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b="1">
                <a:latin typeface="Times New Roman"/>
                <a:cs typeface="Times New Roman"/>
              </a:rPr>
              <a:t>&gt;13</a:t>
            </a:r>
            <a:r>
              <a:rPr sz="1800" b="1" spc="-35">
                <a:latin typeface="Times New Roman"/>
                <a:cs typeface="Times New Roman"/>
              </a:rPr>
              <a:t> </a:t>
            </a:r>
            <a:r>
              <a:rPr sz="1800" b="1" spc="-30">
                <a:latin typeface="Times New Roman"/>
                <a:cs typeface="Times New Roman"/>
              </a:rPr>
              <a:t>characters</a:t>
            </a:r>
            <a:r>
              <a:rPr sz="1800" spc="-30">
                <a:latin typeface="Times New Roman"/>
                <a:cs typeface="Times New Roman"/>
              </a:rPr>
              <a:t>,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but</a:t>
            </a:r>
            <a:r>
              <a:rPr sz="1800" spc="5">
                <a:latin typeface="Times New Roman"/>
                <a:cs typeface="Times New Roman"/>
              </a:rPr>
              <a:t> </a:t>
            </a:r>
            <a:r>
              <a:rPr sz="1800" b="1" spc="-114">
                <a:latin typeface="Times New Roman"/>
                <a:cs typeface="Times New Roman"/>
              </a:rPr>
              <a:t>10</a:t>
            </a:r>
            <a:r>
              <a:rPr sz="1800" b="1" spc="-20">
                <a:latin typeface="Times New Roman"/>
                <a:cs typeface="Times New Roman"/>
              </a:rPr>
              <a:t> </a:t>
            </a:r>
            <a:r>
              <a:rPr sz="1800" b="1" spc="-25">
                <a:latin typeface="Times New Roman"/>
                <a:cs typeface="Times New Roman"/>
              </a:rPr>
              <a:t>characters</a:t>
            </a:r>
            <a:r>
              <a:rPr sz="1800" b="1" spc="-20">
                <a:latin typeface="Times New Roman"/>
                <a:cs typeface="Times New Roman"/>
              </a:rPr>
              <a:t> </a:t>
            </a:r>
            <a:r>
              <a:rPr sz="1800" spc="-55">
                <a:latin typeface="Times New Roman"/>
                <a:cs typeface="Times New Roman"/>
              </a:rPr>
              <a:t>is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 spc="-65">
                <a:latin typeface="Times New Roman"/>
                <a:cs typeface="Times New Roman"/>
              </a:rPr>
              <a:t>typical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in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 spc="-60">
                <a:latin typeface="Times New Roman"/>
                <a:cs typeface="Times New Roman"/>
              </a:rPr>
              <a:t>real-</a:t>
            </a:r>
            <a:r>
              <a:rPr sz="1800" spc="-35">
                <a:latin typeface="Times New Roman"/>
                <a:cs typeface="Times New Roman"/>
              </a:rPr>
              <a:t>world</a:t>
            </a:r>
            <a:r>
              <a:rPr sz="1800" spc="-1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studies.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09750">
              <a:lnSpc>
                <a:spcPct val="100000"/>
              </a:lnSpc>
              <a:spcBef>
                <a:spcPts val="130"/>
              </a:spcBef>
            </a:pPr>
            <a:r>
              <a:rPr sz="3950"/>
              <a:t>Dataset</a:t>
            </a:r>
            <a:r>
              <a:rPr sz="3950" spc="-105"/>
              <a:t> </a:t>
            </a:r>
            <a:r>
              <a:rPr sz="3950" spc="-35"/>
              <a:t>Overview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799782" y="1318323"/>
            <a:ext cx="10586085" cy="4912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SzPct val="97500"/>
              <a:buFont typeface="Arial MT"/>
              <a:buChar char="•"/>
              <a:tabLst>
                <a:tab pos="298450" algn="l"/>
              </a:tabLst>
            </a:pPr>
            <a:r>
              <a:rPr sz="2000" b="1" dirty="0">
                <a:latin typeface="Times New Roman"/>
                <a:cs typeface="Times New Roman"/>
              </a:rPr>
              <a:t>Dataset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Overview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5650" algn="l"/>
              </a:tabLst>
            </a:pPr>
            <a:r>
              <a:rPr sz="2000" b="1" spc="-50" dirty="0">
                <a:latin typeface="Times New Roman"/>
                <a:cs typeface="Times New Roman"/>
              </a:rPr>
              <a:t>20,400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observations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34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variables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5650" algn="l"/>
              </a:tabLst>
            </a:pPr>
            <a:r>
              <a:rPr sz="2000" spc="-25" dirty="0">
                <a:latin typeface="Times New Roman"/>
                <a:cs typeface="Times New Roman"/>
              </a:rPr>
              <a:t>Provides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Times New Roman"/>
                <a:cs typeface="Times New Roman"/>
              </a:rPr>
              <a:t>a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robust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foundation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analysis.</a:t>
            </a:r>
            <a:endParaRPr sz="2000" dirty="0">
              <a:latin typeface="Times New Roman"/>
              <a:cs typeface="Times New Roman"/>
            </a:endParaRPr>
          </a:p>
          <a:p>
            <a:pPr marL="100965" indent="-99695">
              <a:lnSpc>
                <a:spcPct val="100000"/>
              </a:lnSpc>
              <a:buSzPct val="97500"/>
              <a:buFont typeface="Arial MT"/>
              <a:buChar char="•"/>
              <a:tabLst>
                <a:tab pos="100965" algn="l"/>
              </a:tabLst>
            </a:pPr>
            <a:r>
              <a:rPr sz="2000" b="1" dirty="0">
                <a:latin typeface="Times New Roman"/>
                <a:cs typeface="Times New Roman"/>
              </a:rPr>
              <a:t>Dataset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60" dirty="0">
                <a:latin typeface="Times New Roman"/>
                <a:cs typeface="Times New Roman"/>
              </a:rPr>
              <a:t>Variables</a:t>
            </a:r>
            <a:r>
              <a:rPr sz="2000" b="1" dirty="0">
                <a:latin typeface="Times New Roman"/>
                <a:cs typeface="Times New Roman"/>
              </a:rPr>
              <a:t> and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Definitions</a:t>
            </a:r>
            <a:endParaRPr sz="2000" dirty="0">
              <a:latin typeface="Times New Roman"/>
              <a:cs typeface="Times New Roman"/>
            </a:endParaRPr>
          </a:p>
          <a:p>
            <a:pPr marL="558165" lvl="1" indent="-101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58165" algn="l"/>
              </a:tabLst>
            </a:pPr>
            <a:r>
              <a:rPr sz="2000" b="1" dirty="0">
                <a:latin typeface="Times New Roman"/>
                <a:cs typeface="Times New Roman"/>
              </a:rPr>
              <a:t>Hold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(H)</a:t>
            </a:r>
            <a:r>
              <a:rPr sz="2000" spc="-2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1015365" lvl="2" indent="-96520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15365" algn="l"/>
              </a:tabLst>
            </a:pPr>
            <a:r>
              <a:rPr sz="2000" dirty="0">
                <a:latin typeface="Times New Roman"/>
                <a:cs typeface="Times New Roman"/>
              </a:rPr>
              <a:t>Duration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key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is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held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down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(e.g.,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 err="1">
                <a:latin typeface="Times New Roman"/>
                <a:cs typeface="Times New Roman"/>
              </a:rPr>
              <a:t>H.period</a:t>
            </a:r>
            <a:r>
              <a:rPr sz="2000" spc="-10" dirty="0">
                <a:latin typeface="Times New Roman"/>
                <a:cs typeface="Times New Roman"/>
              </a:rPr>
              <a:t>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H.t,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 err="1">
                <a:latin typeface="Times New Roman"/>
                <a:cs typeface="Times New Roman"/>
              </a:rPr>
              <a:t>H.Return</a:t>
            </a:r>
            <a:r>
              <a:rPr sz="2000" spc="-10" dirty="0">
                <a:latin typeface="Times New Roman"/>
                <a:cs typeface="Times New Roman"/>
              </a:rPr>
              <a:t>).</a:t>
            </a:r>
            <a:endParaRPr sz="2000" dirty="0">
              <a:latin typeface="Times New Roman"/>
              <a:cs typeface="Times New Roman"/>
            </a:endParaRPr>
          </a:p>
          <a:p>
            <a:pPr marL="558165" lvl="1" indent="-101600">
              <a:lnSpc>
                <a:spcPct val="100000"/>
              </a:lnSpc>
              <a:buFont typeface="Arial MT"/>
              <a:buChar char="•"/>
              <a:tabLst>
                <a:tab pos="558165" algn="l"/>
              </a:tabLst>
            </a:pPr>
            <a:r>
              <a:rPr sz="2000" b="1" dirty="0">
                <a:latin typeface="Times New Roman"/>
                <a:cs typeface="Times New Roman"/>
              </a:rPr>
              <a:t>Down-Down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(DD)</a:t>
            </a:r>
            <a:r>
              <a:rPr sz="2000" spc="-2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1015365" lvl="2" indent="-96520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015365" algn="l"/>
              </a:tabLst>
            </a:pPr>
            <a:r>
              <a:rPr sz="2000" spc="-20" dirty="0">
                <a:latin typeface="Times New Roman"/>
                <a:cs typeface="Times New Roman"/>
              </a:rPr>
              <a:t>Time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between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pressing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down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key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pressing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subsequent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key.</a:t>
            </a:r>
            <a:endParaRPr sz="2000" dirty="0">
              <a:latin typeface="Times New Roman"/>
              <a:cs typeface="Times New Roman"/>
            </a:endParaRPr>
          </a:p>
          <a:p>
            <a:pPr marL="1473200" lvl="3" indent="-96520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473200" algn="l"/>
              </a:tabLst>
            </a:pPr>
            <a:r>
              <a:rPr sz="2000" spc="-10" dirty="0">
                <a:latin typeface="Times New Roman"/>
                <a:cs typeface="Times New Roman"/>
              </a:rPr>
              <a:t>Examples:</a:t>
            </a:r>
            <a:endParaRPr sz="2000" dirty="0">
              <a:latin typeface="Times New Roman"/>
              <a:cs typeface="Times New Roman"/>
            </a:endParaRPr>
          </a:p>
          <a:p>
            <a:pPr marL="1931035" lvl="4" indent="-96520">
              <a:lnSpc>
                <a:spcPct val="100000"/>
              </a:lnSpc>
              <a:buSzPct val="95000"/>
              <a:buFont typeface="Arial MT"/>
              <a:buChar char="•"/>
              <a:tabLst>
                <a:tab pos="1931035" algn="l"/>
              </a:tabLst>
            </a:pPr>
            <a:r>
              <a:rPr sz="2000" spc="-30" dirty="0">
                <a:latin typeface="Times New Roman"/>
                <a:cs typeface="Times New Roman"/>
              </a:rPr>
              <a:t>DD.period.t: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pressing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"."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pressing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"t".</a:t>
            </a:r>
            <a:endParaRPr sz="2000" dirty="0">
              <a:latin typeface="Times New Roman"/>
              <a:cs typeface="Times New Roman"/>
            </a:endParaRPr>
          </a:p>
          <a:p>
            <a:pPr marL="1931035" lvl="4" indent="-96520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931035" algn="l"/>
              </a:tabLst>
            </a:pPr>
            <a:r>
              <a:rPr sz="2000" spc="-35" dirty="0" err="1">
                <a:latin typeface="Times New Roman"/>
                <a:cs typeface="Times New Roman"/>
              </a:rPr>
              <a:t>DD.a.n</a:t>
            </a:r>
            <a:r>
              <a:rPr sz="2000" spc="-35" dirty="0">
                <a:latin typeface="Times New Roman"/>
                <a:cs typeface="Times New Roman"/>
              </a:rPr>
              <a:t>: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pressing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"a"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40" dirty="0">
                <a:latin typeface="Times New Roman"/>
                <a:cs typeface="Times New Roman"/>
              </a:rPr>
              <a:t>pressing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"n".</a:t>
            </a:r>
            <a:endParaRPr sz="2000" dirty="0">
              <a:latin typeface="Times New Roman"/>
              <a:cs typeface="Times New Roman"/>
            </a:endParaRPr>
          </a:p>
          <a:p>
            <a:pPr marL="558165" lvl="1" indent="-101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58165" algn="l"/>
              </a:tabLst>
            </a:pPr>
            <a:r>
              <a:rPr sz="2000" b="1" dirty="0">
                <a:latin typeface="Times New Roman"/>
                <a:cs typeface="Times New Roman"/>
              </a:rPr>
              <a:t>Up-Down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(UD)</a:t>
            </a:r>
            <a:r>
              <a:rPr sz="2000" spc="-2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1015365" lvl="2" indent="-96520">
              <a:lnSpc>
                <a:spcPct val="100000"/>
              </a:lnSpc>
              <a:buSzPct val="95000"/>
              <a:buFont typeface="Arial MT"/>
              <a:buChar char="•"/>
              <a:tabLst>
                <a:tab pos="1015365" algn="l"/>
              </a:tabLst>
            </a:pPr>
            <a:r>
              <a:rPr sz="2000" spc="-20" dirty="0">
                <a:latin typeface="Times New Roman"/>
                <a:cs typeface="Times New Roman"/>
              </a:rPr>
              <a:t>Time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releasing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Times New Roman"/>
                <a:cs typeface="Times New Roman"/>
              </a:rPr>
              <a:t>key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pressing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down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next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key.</a:t>
            </a:r>
            <a:endParaRPr sz="2000" dirty="0">
              <a:latin typeface="Times New Roman"/>
              <a:cs typeface="Times New Roman"/>
            </a:endParaRPr>
          </a:p>
          <a:p>
            <a:pPr marL="1473200" lvl="3" indent="-96520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473200" algn="l"/>
              </a:tabLst>
            </a:pPr>
            <a:r>
              <a:rPr sz="2000" spc="-10" dirty="0">
                <a:latin typeface="Times New Roman"/>
                <a:cs typeface="Times New Roman"/>
              </a:rPr>
              <a:t>Examples:</a:t>
            </a:r>
            <a:endParaRPr sz="2000" dirty="0">
              <a:latin typeface="Times New Roman"/>
              <a:cs typeface="Times New Roman"/>
            </a:endParaRPr>
          </a:p>
          <a:p>
            <a:pPr marL="1931035" lvl="4" indent="-96520">
              <a:lnSpc>
                <a:spcPct val="100000"/>
              </a:lnSpc>
              <a:spcBef>
                <a:spcPts val="5"/>
              </a:spcBef>
              <a:buSzPct val="95000"/>
              <a:buFont typeface="Arial MT"/>
              <a:buChar char="•"/>
              <a:tabLst>
                <a:tab pos="1931035" algn="l"/>
              </a:tabLst>
            </a:pPr>
            <a:r>
              <a:rPr sz="2000" spc="-35" dirty="0">
                <a:latin typeface="Times New Roman"/>
                <a:cs typeface="Times New Roman"/>
              </a:rPr>
              <a:t>UD.period.t: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releasing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"."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pressing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"t".</a:t>
            </a:r>
            <a:endParaRPr sz="2000" dirty="0">
              <a:latin typeface="Times New Roman"/>
              <a:cs typeface="Times New Roman"/>
            </a:endParaRPr>
          </a:p>
          <a:p>
            <a:pPr marL="1931035" lvl="4" indent="-96520">
              <a:lnSpc>
                <a:spcPct val="100000"/>
              </a:lnSpc>
              <a:buSzPct val="95000"/>
              <a:buFont typeface="Arial MT"/>
              <a:buChar char="•"/>
              <a:tabLst>
                <a:tab pos="1931035" algn="l"/>
              </a:tabLst>
            </a:pPr>
            <a:r>
              <a:rPr sz="2000" spc="-55" dirty="0" err="1">
                <a:latin typeface="Times New Roman"/>
                <a:cs typeface="Times New Roman"/>
              </a:rPr>
              <a:t>UD.n.l</a:t>
            </a:r>
            <a:r>
              <a:rPr sz="2000" spc="-55" dirty="0">
                <a:latin typeface="Times New Roman"/>
                <a:cs typeface="Times New Roman"/>
              </a:rPr>
              <a:t>: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releasing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"n"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pressing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"l".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914399"/>
            <a:ext cx="9464336" cy="4845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C6B921-40A2-1069-67C8-AAB47DEB67DC}"/>
              </a:ext>
            </a:extLst>
          </p:cNvPr>
          <p:cNvSpPr txBox="1"/>
          <p:nvPr/>
        </p:nvSpPr>
        <p:spPr>
          <a:xfrm>
            <a:off x="1150375" y="914400"/>
            <a:ext cx="9409470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Filtering to the last 20 (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keep only 31 to 50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) attempts for each subject within each session. 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5276D31-095D-8580-DF6F-31E767696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75" y="1512864"/>
            <a:ext cx="9733935" cy="443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BF3673-E37E-4A67-BEDB-80CBA504E691}"/>
              </a:ext>
            </a:extLst>
          </p:cNvPr>
          <p:cNvSpPr txBox="1"/>
          <p:nvPr/>
        </p:nvSpPr>
        <p:spPr>
          <a:xfrm>
            <a:off x="1170039" y="973395"/>
            <a:ext cx="10009238" cy="396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Building the Regression Models:</a:t>
            </a:r>
            <a:endParaRPr lang="en-IN" sz="1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Dependent Variables: 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total_UD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total_DD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and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total_H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Independent Variable: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typing_count</a:t>
            </a:r>
            <a:r>
              <a:rPr lang="en-IN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IN" sz="16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sessionIndex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Linear models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are used 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Up-Down Time Model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total_ud_time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=β0​+β1​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⋅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typing_count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+β2​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⋅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sessionIndex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Down-Down Time Model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total_dd_time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=β0​+β1​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⋅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typing_count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+β2​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⋅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sessionIndex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Hold Time Model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total_h_time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=β0​+β1​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⋅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typing_count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+β2​</a:t>
            </a:r>
            <a:r>
              <a:rPr lang="en-IN" sz="1800" kern="100" dirty="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⋅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sessionIndex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5069B-BAC2-B001-CF87-C4E75608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687621"/>
              </p:ext>
            </p:extLst>
          </p:nvPr>
        </p:nvGraphicFramePr>
        <p:xfrm>
          <a:off x="1005840" y="1361440"/>
          <a:ext cx="9956801" cy="18525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5397">
                  <a:extLst>
                    <a:ext uri="{9D8B030D-6E8A-4147-A177-3AD203B41FA5}">
                      <a16:colId xmlns:a16="http://schemas.microsoft.com/office/drawing/2014/main" val="2983976614"/>
                    </a:ext>
                  </a:extLst>
                </a:gridCol>
                <a:gridCol w="2448393">
                  <a:extLst>
                    <a:ext uri="{9D8B030D-6E8A-4147-A177-3AD203B41FA5}">
                      <a16:colId xmlns:a16="http://schemas.microsoft.com/office/drawing/2014/main" val="2581088191"/>
                    </a:ext>
                  </a:extLst>
                </a:gridCol>
                <a:gridCol w="2401758">
                  <a:extLst>
                    <a:ext uri="{9D8B030D-6E8A-4147-A177-3AD203B41FA5}">
                      <a16:colId xmlns:a16="http://schemas.microsoft.com/office/drawing/2014/main" val="1696808239"/>
                    </a:ext>
                  </a:extLst>
                </a:gridCol>
                <a:gridCol w="2051988">
                  <a:extLst>
                    <a:ext uri="{9D8B030D-6E8A-4147-A177-3AD203B41FA5}">
                      <a16:colId xmlns:a16="http://schemas.microsoft.com/office/drawing/2014/main" val="1672632213"/>
                    </a:ext>
                  </a:extLst>
                </a:gridCol>
                <a:gridCol w="1119265">
                  <a:extLst>
                    <a:ext uri="{9D8B030D-6E8A-4147-A177-3AD203B41FA5}">
                      <a16:colId xmlns:a16="http://schemas.microsoft.com/office/drawing/2014/main" val="2966106768"/>
                    </a:ext>
                  </a:extLst>
                </a:gridCol>
              </a:tblGrid>
              <a:tr h="6807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Model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Typing Count Coefficient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Session Index Coefficient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Significance of Session Index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R² (Model Fit)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2070893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Up-Down Time (UD)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0.00187 (p = 0.347)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-0.2052 (p = 0.0393)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Significant (faster over sessions)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0.057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6562794"/>
                  </a:ext>
                </a:extLst>
              </a:tr>
              <a:tr h="4704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Down-Down Time (DD)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0.00234 (p = 0.224)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-0.2198 (p = 0.0226)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Significant (faster over sessions)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0.052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1655341"/>
                  </a:ext>
                </a:extLst>
              </a:tr>
              <a:tr h="2308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Hold Time (H)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0.00055 (p = 0.227)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-0.0181 (p = 0.424)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Not Significant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0.0082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44629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E579B3-B09B-C7CD-3DF3-EA6BA383B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791319"/>
              </p:ext>
            </p:extLst>
          </p:nvPr>
        </p:nvGraphicFramePr>
        <p:xfrm>
          <a:off x="1005840" y="4003040"/>
          <a:ext cx="9956799" cy="18479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08433">
                  <a:extLst>
                    <a:ext uri="{9D8B030D-6E8A-4147-A177-3AD203B41FA5}">
                      <a16:colId xmlns:a16="http://schemas.microsoft.com/office/drawing/2014/main" val="240318328"/>
                    </a:ext>
                  </a:extLst>
                </a:gridCol>
                <a:gridCol w="2908433">
                  <a:extLst>
                    <a:ext uri="{9D8B030D-6E8A-4147-A177-3AD203B41FA5}">
                      <a16:colId xmlns:a16="http://schemas.microsoft.com/office/drawing/2014/main" val="4065297749"/>
                    </a:ext>
                  </a:extLst>
                </a:gridCol>
                <a:gridCol w="4139933">
                  <a:extLst>
                    <a:ext uri="{9D8B030D-6E8A-4147-A177-3AD203B41FA5}">
                      <a16:colId xmlns:a16="http://schemas.microsoft.com/office/drawing/2014/main" val="2435266139"/>
                    </a:ext>
                  </a:extLst>
                </a:gridCol>
              </a:tblGrid>
              <a:tr h="2367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Insight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Observation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Impact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338221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Typing Speed Improves Over Sessions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UD and DD times decrease as session index increases.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Users develop some memory and type faster.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8165665"/>
                  </a:ext>
                </a:extLst>
              </a:tr>
              <a:tr h="6459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Hold Time Remains Constant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No significant decrease in hold time across sessions.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Users consistently hold keys for the same duration, even as they improve overall typing speed.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458671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Low R² Values (Weak Model Fit)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R² values are low, especially for hold time (0.0082).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Other factors might influence typing </a:t>
                      </a:r>
                      <a:r>
                        <a:rPr lang="en-IN" sz="1200" kern="100" dirty="0" err="1">
                          <a:effectLst/>
                        </a:rPr>
                        <a:t>behavior</a:t>
                      </a:r>
                      <a:r>
                        <a:rPr lang="en-IN" sz="1200" kern="100" dirty="0">
                          <a:effectLst/>
                        </a:rPr>
                        <a:t>.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51561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0238A9-BC0B-C346-A258-B00E1454BD16}"/>
              </a:ext>
            </a:extLst>
          </p:cNvPr>
          <p:cNvSpPr txBox="1"/>
          <p:nvPr/>
        </p:nvSpPr>
        <p:spPr>
          <a:xfrm>
            <a:off x="1005840" y="924560"/>
            <a:ext cx="980276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Results: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584394-29D1-16E8-44F6-6BF6F23E7C95}"/>
              </a:ext>
            </a:extLst>
          </p:cNvPr>
          <p:cNvSpPr txBox="1"/>
          <p:nvPr/>
        </p:nvSpPr>
        <p:spPr>
          <a:xfrm>
            <a:off x="993057" y="924232"/>
            <a:ext cx="9193161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QQ Plots for Normality Residuals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10237-1AE0-BC70-9FF2-3C988317D136}"/>
              </a:ext>
            </a:extLst>
          </p:cNvPr>
          <p:cNvSpPr txBox="1"/>
          <p:nvPr/>
        </p:nvSpPr>
        <p:spPr>
          <a:xfrm>
            <a:off x="1278193" y="1300617"/>
            <a:ext cx="2694039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#QQ plot for UD model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group of graphs showing the results of a model&#10;&#10;AI-generated content may be incorrect.">
            <a:extLst>
              <a:ext uri="{FF2B5EF4-FFF2-40B4-BE49-F238E27FC236}">
                <a16:creationId xmlns:a16="http://schemas.microsoft.com/office/drawing/2014/main" id="{08E8EBDA-8259-2AF9-EC30-49E93FCD9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450" y="1758282"/>
            <a:ext cx="9096949" cy="35617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47A248-9847-EA65-913F-F2D836CDBB7E}"/>
              </a:ext>
            </a:extLst>
          </p:cNvPr>
          <p:cNvSpPr txBox="1"/>
          <p:nvPr/>
        </p:nvSpPr>
        <p:spPr>
          <a:xfrm>
            <a:off x="943897" y="884904"/>
            <a:ext cx="8200103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#QQ plot for DD model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oup of graphs showing the results of a model&#10;&#10;AI-generated content may be incorrect.">
            <a:extLst>
              <a:ext uri="{FF2B5EF4-FFF2-40B4-BE49-F238E27FC236}">
                <a16:creationId xmlns:a16="http://schemas.microsoft.com/office/drawing/2014/main" id="{C578678E-D5BB-AC24-D24C-04395011C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7" y="1288169"/>
            <a:ext cx="10038735" cy="41785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197AED-8628-B11F-83A6-3B397794CE8F}"/>
              </a:ext>
            </a:extLst>
          </p:cNvPr>
          <p:cNvSpPr txBox="1"/>
          <p:nvPr/>
        </p:nvSpPr>
        <p:spPr>
          <a:xfrm>
            <a:off x="776748" y="875072"/>
            <a:ext cx="8367252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##QQ plot for H model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of a graph of a model&#10;&#10;AI-generated content may be incorrect.">
            <a:extLst>
              <a:ext uri="{FF2B5EF4-FFF2-40B4-BE49-F238E27FC236}">
                <a16:creationId xmlns:a16="http://schemas.microsoft.com/office/drawing/2014/main" id="{37503794-CF16-749C-8678-49310E46A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98" y="1326592"/>
            <a:ext cx="9960075" cy="4000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ACAD04-8863-A2A1-0544-533501F7A6DE}"/>
              </a:ext>
            </a:extLst>
          </p:cNvPr>
          <p:cNvSpPr txBox="1"/>
          <p:nvPr/>
        </p:nvSpPr>
        <p:spPr>
          <a:xfrm>
            <a:off x="875072" y="904568"/>
            <a:ext cx="3388934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#Residuals vs Fitted plot for UD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oup of graphs showing different values&#10;&#10;AI-generated content may be incorrect.">
            <a:extLst>
              <a:ext uri="{FF2B5EF4-FFF2-40B4-BE49-F238E27FC236}">
                <a16:creationId xmlns:a16="http://schemas.microsoft.com/office/drawing/2014/main" id="{754634D9-0874-1CA9-8E0D-7E40D3038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71" y="1397108"/>
            <a:ext cx="3388934" cy="4482582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35207E-C574-59C0-5132-9DDA9A4E4EA1}"/>
              </a:ext>
            </a:extLst>
          </p:cNvPr>
          <p:cNvSpPr txBox="1"/>
          <p:nvPr/>
        </p:nvSpPr>
        <p:spPr>
          <a:xfrm>
            <a:off x="4503174" y="904568"/>
            <a:ext cx="3388934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#Residuals vs Fitted plot for DD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graph of different values&#10;&#10;AI-generated content may be incorrect.">
            <a:extLst>
              <a:ext uri="{FF2B5EF4-FFF2-40B4-BE49-F238E27FC236}">
                <a16:creationId xmlns:a16="http://schemas.microsoft.com/office/drawing/2014/main" id="{81FBC5BF-F3D1-DD9C-E09A-22504050F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189" y="1397108"/>
            <a:ext cx="3257919" cy="4482582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4BB970-6AC0-46B1-FD45-2F388257C135}"/>
              </a:ext>
            </a:extLst>
          </p:cNvPr>
          <p:cNvSpPr txBox="1"/>
          <p:nvPr/>
        </p:nvSpPr>
        <p:spPr>
          <a:xfrm>
            <a:off x="8131277" y="904568"/>
            <a:ext cx="3388934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#Residuals vs Fitted plot for H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graph of different values&#10;&#10;AI-generated content may be incorrect.">
            <a:extLst>
              <a:ext uri="{FF2B5EF4-FFF2-40B4-BE49-F238E27FC236}">
                <a16:creationId xmlns:a16="http://schemas.microsoft.com/office/drawing/2014/main" id="{F4B7E2B3-17B5-81C4-09D8-AF03FD40A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292" y="1397108"/>
            <a:ext cx="3257919" cy="44825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EFEE7-8D19-3716-4B1F-0A4057FA0C27}"/>
              </a:ext>
            </a:extLst>
          </p:cNvPr>
          <p:cNvSpPr txBox="1"/>
          <p:nvPr/>
        </p:nvSpPr>
        <p:spPr>
          <a:xfrm>
            <a:off x="1042219" y="904568"/>
            <a:ext cx="8101781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#Shapiro-Wilk Test for Normality Distribution</a:t>
            </a:r>
            <a:endParaRPr lang="en-IN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E21657-C053-F7CA-E864-038FC552E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906120"/>
              </p:ext>
            </p:extLst>
          </p:nvPr>
        </p:nvGraphicFramePr>
        <p:xfrm>
          <a:off x="1042218" y="1727200"/>
          <a:ext cx="4667701" cy="44195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411">
                  <a:extLst>
                    <a:ext uri="{9D8B030D-6E8A-4147-A177-3AD203B41FA5}">
                      <a16:colId xmlns:a16="http://schemas.microsoft.com/office/drawing/2014/main" val="3317482443"/>
                    </a:ext>
                  </a:extLst>
                </a:gridCol>
                <a:gridCol w="704559">
                  <a:extLst>
                    <a:ext uri="{9D8B030D-6E8A-4147-A177-3AD203B41FA5}">
                      <a16:colId xmlns:a16="http://schemas.microsoft.com/office/drawing/2014/main" val="1669763820"/>
                    </a:ext>
                  </a:extLst>
                </a:gridCol>
                <a:gridCol w="924733">
                  <a:extLst>
                    <a:ext uri="{9D8B030D-6E8A-4147-A177-3AD203B41FA5}">
                      <a16:colId xmlns:a16="http://schemas.microsoft.com/office/drawing/2014/main" val="2347609713"/>
                    </a:ext>
                  </a:extLst>
                </a:gridCol>
                <a:gridCol w="924733">
                  <a:extLst>
                    <a:ext uri="{9D8B030D-6E8A-4147-A177-3AD203B41FA5}">
                      <a16:colId xmlns:a16="http://schemas.microsoft.com/office/drawing/2014/main" val="510980153"/>
                    </a:ext>
                  </a:extLst>
                </a:gridCol>
                <a:gridCol w="1174265">
                  <a:extLst>
                    <a:ext uri="{9D8B030D-6E8A-4147-A177-3AD203B41FA5}">
                      <a16:colId xmlns:a16="http://schemas.microsoft.com/office/drawing/2014/main" val="3076456479"/>
                    </a:ext>
                  </a:extLst>
                </a:gridCol>
              </a:tblGrid>
              <a:tr h="7702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Subject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Model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W-statistic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p-value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Normality Conclusion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1243101682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0.8889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1.37E-09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938492153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0.8329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3.07E-12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1118862684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0.9448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6.59E-06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1867777353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0.9474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1.08E-05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669023138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0.886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9.49E-10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Not normal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1158749777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0.8334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3.22E-12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3740676448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0.9221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1.37E-07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2034806517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0.9383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2.02E-06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3495028790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0.953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3.31E-05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477391031"/>
                  </a:ext>
                </a:extLst>
              </a:tr>
              <a:tr h="5283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0.0204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Almost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3907407"/>
                  </a:ext>
                </a:extLst>
              </a:tr>
              <a:tr h="52837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0.9768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0.0085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Almost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4112674465"/>
                  </a:ext>
                </a:extLst>
              </a:tr>
              <a:tr h="2592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0.9857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0.0993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Normal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8" marR="55268" marT="0" marB="0"/>
                </a:tc>
                <a:extLst>
                  <a:ext uri="{0D108BD9-81ED-4DB2-BD59-A6C34878D82A}">
                    <a16:rowId xmlns:a16="http://schemas.microsoft.com/office/drawing/2014/main" val="7192932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075FD1-6862-0E8C-7F88-D2EE6D1E2CFC}"/>
              </a:ext>
            </a:extLst>
          </p:cNvPr>
          <p:cNvSpPr txBox="1"/>
          <p:nvPr/>
        </p:nvSpPr>
        <p:spPr>
          <a:xfrm>
            <a:off x="6213986" y="1280953"/>
            <a:ext cx="4778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False Discovery Rate (FDR) </a:t>
            </a:r>
            <a:endParaRPr lang="en-IN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7A7D44-DF72-AC3D-6918-F1B7E3C1F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098158"/>
              </p:ext>
            </p:extLst>
          </p:nvPr>
        </p:nvGraphicFramePr>
        <p:xfrm>
          <a:off x="6213986" y="1727201"/>
          <a:ext cx="5043950" cy="44196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7724">
                  <a:extLst>
                    <a:ext uri="{9D8B030D-6E8A-4147-A177-3AD203B41FA5}">
                      <a16:colId xmlns:a16="http://schemas.microsoft.com/office/drawing/2014/main" val="61462476"/>
                    </a:ext>
                  </a:extLst>
                </a:gridCol>
                <a:gridCol w="620796">
                  <a:extLst>
                    <a:ext uri="{9D8B030D-6E8A-4147-A177-3AD203B41FA5}">
                      <a16:colId xmlns:a16="http://schemas.microsoft.com/office/drawing/2014/main" val="1356412953"/>
                    </a:ext>
                  </a:extLst>
                </a:gridCol>
                <a:gridCol w="814792">
                  <a:extLst>
                    <a:ext uri="{9D8B030D-6E8A-4147-A177-3AD203B41FA5}">
                      <a16:colId xmlns:a16="http://schemas.microsoft.com/office/drawing/2014/main" val="1736063125"/>
                    </a:ext>
                  </a:extLst>
                </a:gridCol>
                <a:gridCol w="814792">
                  <a:extLst>
                    <a:ext uri="{9D8B030D-6E8A-4147-A177-3AD203B41FA5}">
                      <a16:colId xmlns:a16="http://schemas.microsoft.com/office/drawing/2014/main" val="2499641937"/>
                    </a:ext>
                  </a:extLst>
                </a:gridCol>
                <a:gridCol w="1034657">
                  <a:extLst>
                    <a:ext uri="{9D8B030D-6E8A-4147-A177-3AD203B41FA5}">
                      <a16:colId xmlns:a16="http://schemas.microsoft.com/office/drawing/2014/main" val="1610783597"/>
                    </a:ext>
                  </a:extLst>
                </a:gridCol>
                <a:gridCol w="931189">
                  <a:extLst>
                    <a:ext uri="{9D8B030D-6E8A-4147-A177-3AD203B41FA5}">
                      <a16:colId xmlns:a16="http://schemas.microsoft.com/office/drawing/2014/main" val="1890485811"/>
                    </a:ext>
                  </a:extLst>
                </a:gridCol>
              </a:tblGrid>
              <a:tr h="9427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Subject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Model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W-statistic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p-value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FDR-adjusted p-value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Normality Conclusion After FDR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225906938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0.8889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1.37E-09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4.11E-09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3271058431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0.8329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3.07E-12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1.93E-11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2306820425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0.9448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6.59E-06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1.13E-05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3932891636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s057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UD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0.9474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1.08E-05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1.62E-05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1402623605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0.886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9.49E-10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3.80E-09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2729233962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0.8334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3.22E-12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1.93E-11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1364309379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0.9221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1.37E-07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3.29E-07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3781165451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DD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0.9383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2.02E-06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4.04E-06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631985985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0.953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3.31E-05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4.41E-05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Not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567394507"/>
                  </a:ext>
                </a:extLst>
              </a:tr>
              <a:tr h="5043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0.0204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0.0223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Almost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1842034744"/>
                  </a:ext>
                </a:extLst>
              </a:tr>
              <a:tr h="5043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0.9768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0.0085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0.0102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Almost normal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46717669"/>
                  </a:ext>
                </a:extLst>
              </a:tr>
              <a:tr h="2468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s057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H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0.9857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0.0993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0.0993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Normal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011" marR="53011" marT="0" marB="0"/>
                </a:tc>
                <a:extLst>
                  <a:ext uri="{0D108BD9-81ED-4DB2-BD59-A6C34878D82A}">
                    <a16:rowId xmlns:a16="http://schemas.microsoft.com/office/drawing/2014/main" val="5896285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B58AD1E-8C4E-668A-E7C9-DC629BE53FDE}"/>
              </a:ext>
            </a:extLst>
          </p:cNvPr>
          <p:cNvSpPr txBox="1"/>
          <p:nvPr/>
        </p:nvSpPr>
        <p:spPr>
          <a:xfrm>
            <a:off x="1042218" y="1280953"/>
            <a:ext cx="3716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Before False Discovery Rate (FDR) </a:t>
            </a:r>
            <a:endParaRPr lang="en-IN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4533AF-C609-15EB-94E8-13040040E013}"/>
              </a:ext>
            </a:extLst>
          </p:cNvPr>
          <p:cNvSpPr txBox="1"/>
          <p:nvPr/>
        </p:nvSpPr>
        <p:spPr>
          <a:xfrm>
            <a:off x="1091381" y="894735"/>
            <a:ext cx="9635613" cy="1444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 transformation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Shapiro-Wilk tests, residuals for </a:t>
            </a: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 and DD models were heavily skewed</a:t>
            </a:r>
            <a:r>
              <a:rPr lang="en-I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 transformation helps </a:t>
            </a:r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normalize distributions</a:t>
            </a:r>
            <a:r>
              <a:rPr lang="en-I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reducing the impact of extreme values.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7E392-F11C-DCFB-C420-7F5F615B3DA0}"/>
              </a:ext>
            </a:extLst>
          </p:cNvPr>
          <p:cNvSpPr txBox="1"/>
          <p:nvPr/>
        </p:nvSpPr>
        <p:spPr>
          <a:xfrm>
            <a:off x="1170040" y="2153265"/>
            <a:ext cx="7246374" cy="33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Table: Shapiro-Wilk Test </a:t>
            </a:r>
            <a:r>
              <a:rPr lang="en-I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sz="12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Log-Transformed UD and DD Models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F6AC2B-7F0A-1DED-E1DC-BE9CE1C0D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376101"/>
              </p:ext>
            </p:extLst>
          </p:nvPr>
        </p:nvGraphicFramePr>
        <p:xfrm>
          <a:off x="1170040" y="2492054"/>
          <a:ext cx="8563242" cy="36337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9690">
                  <a:extLst>
                    <a:ext uri="{9D8B030D-6E8A-4147-A177-3AD203B41FA5}">
                      <a16:colId xmlns:a16="http://schemas.microsoft.com/office/drawing/2014/main" val="1665259105"/>
                    </a:ext>
                  </a:extLst>
                </a:gridCol>
                <a:gridCol w="1219690">
                  <a:extLst>
                    <a:ext uri="{9D8B030D-6E8A-4147-A177-3AD203B41FA5}">
                      <a16:colId xmlns:a16="http://schemas.microsoft.com/office/drawing/2014/main" val="1411003744"/>
                    </a:ext>
                  </a:extLst>
                </a:gridCol>
                <a:gridCol w="1219690">
                  <a:extLst>
                    <a:ext uri="{9D8B030D-6E8A-4147-A177-3AD203B41FA5}">
                      <a16:colId xmlns:a16="http://schemas.microsoft.com/office/drawing/2014/main" val="2813719425"/>
                    </a:ext>
                  </a:extLst>
                </a:gridCol>
                <a:gridCol w="1219690">
                  <a:extLst>
                    <a:ext uri="{9D8B030D-6E8A-4147-A177-3AD203B41FA5}">
                      <a16:colId xmlns:a16="http://schemas.microsoft.com/office/drawing/2014/main" val="3073078690"/>
                    </a:ext>
                  </a:extLst>
                </a:gridCol>
                <a:gridCol w="1219690">
                  <a:extLst>
                    <a:ext uri="{9D8B030D-6E8A-4147-A177-3AD203B41FA5}">
                      <a16:colId xmlns:a16="http://schemas.microsoft.com/office/drawing/2014/main" val="3602016630"/>
                    </a:ext>
                  </a:extLst>
                </a:gridCol>
                <a:gridCol w="2464792">
                  <a:extLst>
                    <a:ext uri="{9D8B030D-6E8A-4147-A177-3AD203B41FA5}">
                      <a16:colId xmlns:a16="http://schemas.microsoft.com/office/drawing/2014/main" val="305898406"/>
                    </a:ext>
                  </a:extLst>
                </a:gridCol>
              </a:tblGrid>
              <a:tr h="7318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Subject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Model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W-statistic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P-Value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FDR Adjusted P-Value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Normality Conclusion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402066396"/>
                  </a:ext>
                </a:extLst>
              </a:tr>
              <a:tr h="362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s002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Log_UD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0.94909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1.67E-10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3.33E-10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Not Normal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2900053984"/>
                  </a:ext>
                </a:extLst>
              </a:tr>
              <a:tr h="362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s002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Log_DD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0.9384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8.16E-12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2.18E-11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Not Normal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1241271405"/>
                  </a:ext>
                </a:extLst>
              </a:tr>
              <a:tr h="362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s020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Log_UD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0.95286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5.34E-10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8.54E-10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Not Normal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724632707"/>
                  </a:ext>
                </a:extLst>
              </a:tr>
              <a:tr h="362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s020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Log_DD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0.93343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2.26E-12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9.02E-12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Not Normal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3711059275"/>
                  </a:ext>
                </a:extLst>
              </a:tr>
              <a:tr h="388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s040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Log_UD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0.98658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9.39E-04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9.39E-04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Approximately Normal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3050166570"/>
                  </a:ext>
                </a:extLst>
              </a:tr>
              <a:tr h="362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s040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Log_DD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0.96776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1.02E-07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1.17E-07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Not Normal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1325043337"/>
                  </a:ext>
                </a:extLst>
              </a:tr>
              <a:tr h="2996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s057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Log_UD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0.95914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4.24E-09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5.65E-09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Not Normal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2137443773"/>
                  </a:ext>
                </a:extLst>
              </a:tr>
              <a:tr h="3620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s057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Log_DD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0.92497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2.90E-13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>
                          <a:effectLst/>
                        </a:rPr>
                        <a:t>2.32E-12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0" dirty="0">
                          <a:effectLst/>
                        </a:rPr>
                        <a:t>Not Normal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1" marR="46011" marT="0" marB="0"/>
                </a:tc>
                <a:extLst>
                  <a:ext uri="{0D108BD9-81ED-4DB2-BD59-A6C34878D82A}">
                    <a16:rowId xmlns:a16="http://schemas.microsoft.com/office/drawing/2014/main" val="437421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8E26-C4B9-7F01-B9B5-6361A483F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551" y="717755"/>
            <a:ext cx="9610091" cy="307777"/>
          </a:xfrm>
        </p:spPr>
        <p:txBody>
          <a:bodyPr/>
          <a:lstStyle/>
          <a:p>
            <a:pPr algn="l"/>
            <a:r>
              <a:rPr lang="en-IN" sz="20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Conclusions:</a:t>
            </a: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F8753-4282-ADA5-DCDC-6049E8D3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551" y="1229032"/>
            <a:ext cx="9610092" cy="4911213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Typing </a:t>
            </a:r>
            <a:r>
              <a:rPr lang="en-IN" sz="12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Becomes More Consistent Over Time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Filtering the last 20 attempts per session reduced variability and noise, making typing </a:t>
            </a:r>
            <a:r>
              <a:rPr lang="en-IN" sz="1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behavior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more stable.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Up-Down (UD) and Down-Down (DD) times show a clear decreasing trend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indicating that users improve their typing speed with repeated sessions.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Hold (H) time remains stable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suggesting that holding duration is an intrinsic characteristic and is not significantly affected by repeated practice.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2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Regression Analysis Shows Limited Predictive Power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Session Index is a significant predictor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for UD and DD times, confirming that users type faster with more sessions.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Low R² values (0.057 for UD, 0.052 for DD, 0.008 for H)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indicate that additional factors may be influencing typing dynamics.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Residual Analysis Shows Non-Normality in UD and DD Models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Shapiro-Wilk test and QQ plots indicate that UD and DD residuals are not normally distributed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suggesting skewness or outliers in the data.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Hold time (H) model residuals are closer to normal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meaning the model fits better for this variable.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4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Log Transformation Improves Some Model Assumptions but Does Not Fully Solve Non-Normality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 applying a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log transformation to UD and DD times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s040 (</a:t>
            </a:r>
            <a:r>
              <a:rPr lang="en-IN" sz="12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Log_UD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residuals became approximately normal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Most residuals still show non-normality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meaning log transformation helps but may not be the complete solution.</a:t>
            </a:r>
            <a:endParaRPr lang="en-IN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8527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58346-134A-26C3-7CF2-0BDD162A5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53DA-6163-3DB7-6DCC-707F9CD9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551" y="717755"/>
            <a:ext cx="9610091" cy="307777"/>
          </a:xfrm>
        </p:spPr>
        <p:txBody>
          <a:bodyPr/>
          <a:lstStyle/>
          <a:p>
            <a:pPr algn="l"/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Recommendations</a:t>
            </a:r>
            <a:r>
              <a:rPr lang="en-IN" sz="20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460DB-75A2-BEC5-172C-2ACD8913E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551" y="1229032"/>
            <a:ext cx="9610092" cy="2062103"/>
          </a:xfrm>
        </p:spPr>
        <p:txBody>
          <a:bodyPr/>
          <a:lstStyle/>
          <a:p>
            <a:pPr rtl="0" fontAlgn="base">
              <a:spcAft>
                <a:spcPts val="80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Enhancing the Model with Nonlinear Techniques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rtl="0">
              <a:spcAft>
                <a:spcPts val="8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Since linear models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 not fully explain keystroke timing variations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considering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Polynomial regression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(to capture nonlinearity),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Mixed-effects models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(to account for subject variability),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Machine learning models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(Random Forests, Neural Networks) for better predictions.</a:t>
            </a:r>
            <a:endParaRPr lang="en-US" b="0" dirty="0">
              <a:effectLst/>
            </a:endParaRPr>
          </a:p>
          <a:p>
            <a:pPr rtl="0" fontAlgn="base">
              <a:spcAft>
                <a:spcPts val="800"/>
              </a:spcAft>
              <a:buFont typeface="+mj-lt"/>
              <a:buAutoNum type="arabicPeriod" startAt="2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Using Outlier Detection and Robust Regression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9159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143000"/>
            <a:ext cx="9730154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B8BF-93C1-22A0-9ED4-F376E59B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170" y="2853055"/>
            <a:ext cx="7440295" cy="738664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80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2982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1327</Words>
  <Application>Microsoft Office PowerPoint</Application>
  <PresentationFormat>Widescreen</PresentationFormat>
  <Paragraphs>333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 MT</vt:lpstr>
      <vt:lpstr>Cambria Math</vt:lpstr>
      <vt:lpstr>Courier New</vt:lpstr>
      <vt:lpstr>Symbol</vt:lpstr>
      <vt:lpstr>Times New Roman</vt:lpstr>
      <vt:lpstr>Office Theme</vt:lpstr>
      <vt:lpstr>Project 1</vt:lpstr>
      <vt:lpstr>Introduction</vt:lpstr>
      <vt:lpstr>Participant and Password Details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Conclusions:</vt:lpstr>
      <vt:lpstr>Recommendations: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</dc:title>
  <dc:creator>bshivamkumar</dc:creator>
  <cp:lastModifiedBy>Vodnala, Sai Ram - DSU Student</cp:lastModifiedBy>
  <cp:revision>7</cp:revision>
  <dcterms:created xsi:type="dcterms:W3CDTF">2025-02-12T13:04:54Z</dcterms:created>
  <dcterms:modified xsi:type="dcterms:W3CDTF">2025-02-26T14:35:15Z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2024-12-18T00:00:00Z</vt:filetime>
  </property>
  <property fmtid="{D5CDD505-2E9C-101B-9397-08002B2CF9AE}" pid="3" name="LastSaved">
    <vt:filetime>2025-02-12T00:00:00Z</vt:filetime>
  </property>
</Properties>
</file>