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9" r:id="rId4"/>
    <p:sldId id="272" r:id="rId5"/>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6858000" cy="9144000"/>
  <p:embeddedFontLst>
    <p:embeddedFont>
      <p:font typeface="Cambria Math" panose="02040503050406030204" pitchFamily="18" charset="0"/>
      <p:regular r:id="rId20"/>
    </p:embeddedFont>
    <p:embeddedFont>
      <p:font typeface="Lato" panose="020F0502020204030203" pitchFamily="34" charset="0"/>
      <p:regular r:id="rId21"/>
      <p:bold r:id="rId22"/>
      <p:italic r:id="rId23"/>
      <p:boldItalic r:id="rId24"/>
    </p:embeddedFont>
    <p:embeddedFont>
      <p:font typeface="Raleway"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C3B61D-8A1C-44EA-B03D-843B0864F935}" v="2" dt="2024-10-25T02:21:40.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068"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fc4d1fda2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fc4d1fda2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fc4d1fda2d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fc4d1fda2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fc4d1fda2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fc4d1fda2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1311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fc4d1fda2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fc4d1fda2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0b4e1d77d1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0b4e1d77d1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fc53659753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fc53659753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fc53659753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fc53659753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fc53659753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fc53659753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fc4d1fda2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fc4d1fda2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0c3123ebf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0c3123ebf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fc53659753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fc53659753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fc53659753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fc53659753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fc53659753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fc53659753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b4e1d77d1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0b4e1d77d1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0b4e1d77d1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0b4e1d77d1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faa3867af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faa3867af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Monte_Carlo_method"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8162700" cy="1664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 1</a:t>
            </a:r>
            <a:endParaRPr/>
          </a:p>
          <a:p>
            <a:pPr marL="0" lvl="0" indent="0" algn="l" rtl="0">
              <a:spcBef>
                <a:spcPts val="0"/>
              </a:spcBef>
              <a:spcAft>
                <a:spcPts val="0"/>
              </a:spcAft>
              <a:buNone/>
            </a:pPr>
            <a:r>
              <a:rPr lang="en"/>
              <a:t>Random Match Probability (RMP)</a:t>
            </a:r>
            <a:endParaRPr/>
          </a:p>
        </p:txBody>
      </p:sp>
      <p:sp>
        <p:nvSpPr>
          <p:cNvPr id="87" name="Google Shape;87;p13"/>
          <p:cNvSpPr txBox="1">
            <a:spLocks noGrp="1"/>
          </p:cNvSpPr>
          <p:nvPr>
            <p:ph type="subTitle" idx="1"/>
          </p:nvPr>
        </p:nvSpPr>
        <p:spPr>
          <a:xfrm>
            <a:off x="729625" y="3172900"/>
            <a:ext cx="8005800" cy="998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Sai Ram Vodnala, Carlos Quevedo, Soniya Shahi, Kevin Osei-Onomah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6620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Introduction</a:t>
            </a:r>
            <a:endParaRPr dirty="0"/>
          </a:p>
        </p:txBody>
      </p:sp>
      <p:sp>
        <p:nvSpPr>
          <p:cNvPr id="93" name="Google Shape;93;p14"/>
          <p:cNvSpPr txBox="1">
            <a:spLocks noGrp="1"/>
          </p:cNvSpPr>
          <p:nvPr>
            <p:ph type="body" idx="1"/>
          </p:nvPr>
        </p:nvSpPr>
        <p:spPr>
          <a:xfrm>
            <a:off x="838900" y="1559050"/>
            <a:ext cx="8175900" cy="2968800"/>
          </a:xfrm>
          <a:prstGeom prst="rect">
            <a:avLst/>
          </a:prstGeom>
        </p:spPr>
        <p:txBody>
          <a:bodyPr spcFirstLastPara="1" wrap="square" lIns="91425" tIns="91425" rIns="91425" bIns="91425" anchor="t" anchorCtr="0">
            <a:normAutofit/>
          </a:bodyPr>
          <a:lstStyle/>
          <a:p>
            <a:pPr rtl="0">
              <a:spcBef>
                <a:spcPts val="1200"/>
              </a:spcBef>
              <a:spcAft>
                <a:spcPts val="200"/>
              </a:spcAft>
            </a:pPr>
            <a:r>
              <a:rPr lang="en-GB" sz="1800" b="0" i="0" u="none" strike="noStrike" dirty="0">
                <a:solidFill>
                  <a:srgbClr val="000000"/>
                </a:solidFill>
                <a:effectLst/>
                <a:latin typeface="Arial" panose="020B0604020202020204" pitchFamily="34" charset="0"/>
              </a:rPr>
              <a:t>This project evaluates the efficacy of three statistical methods </a:t>
            </a:r>
            <a:r>
              <a:rPr lang="en-GB" sz="1800" b="0" i="0" u="none" strike="noStrike" dirty="0" err="1">
                <a:solidFill>
                  <a:srgbClr val="000000"/>
                </a:solidFill>
                <a:effectLst/>
                <a:latin typeface="Arial" panose="020B0604020202020204" pitchFamily="34" charset="0"/>
              </a:rPr>
              <a:t>i.i.d.</a:t>
            </a:r>
            <a:r>
              <a:rPr lang="en-GB" sz="1800" b="0" i="0" u="none" strike="noStrike" dirty="0">
                <a:solidFill>
                  <a:srgbClr val="000000"/>
                </a:solidFill>
                <a:effectLst/>
                <a:latin typeface="Arial" panose="020B0604020202020204" pitchFamily="34" charset="0"/>
              </a:rPr>
              <a:t> Binomial (UB1),</a:t>
            </a:r>
            <a:r>
              <a:rPr lang="en-GB" dirty="0"/>
              <a:t> </a:t>
            </a:r>
            <a:r>
              <a:rPr lang="en-GB" sz="1800" b="0" i="0" u="none" strike="noStrike" dirty="0">
                <a:solidFill>
                  <a:srgbClr val="000000"/>
                </a:solidFill>
                <a:effectLst/>
                <a:latin typeface="Arial" panose="020B0604020202020204" pitchFamily="34" charset="0"/>
              </a:rPr>
              <a:t>Independent Comparisons Binomial (UB2) and U-Statistic (UB3) for calculating the upper confidence bounds (UCBs) of Random Match Probability (RMP) in biometric systems using Monte </a:t>
            </a:r>
            <a:r>
              <a:rPr lang="en-GB" sz="1800" b="0" i="0" u="none" strike="noStrike" dirty="0" err="1">
                <a:solidFill>
                  <a:srgbClr val="000000"/>
                </a:solidFill>
                <a:effectLst/>
                <a:latin typeface="Arial" panose="020B0604020202020204" pitchFamily="34" charset="0"/>
              </a:rPr>
              <a:t>carlo</a:t>
            </a:r>
            <a:r>
              <a:rPr lang="en-GB" sz="1800" b="0" i="0" u="none" strike="noStrike" dirty="0">
                <a:solidFill>
                  <a:srgbClr val="000000"/>
                </a:solidFill>
                <a:effectLst/>
                <a:latin typeface="Arial" panose="020B0604020202020204" pitchFamily="34" charset="0"/>
              </a:rPr>
              <a:t> simulations.</a:t>
            </a:r>
            <a:endParaRPr lang="en-GB" b="0" dirty="0">
              <a:effectLst/>
            </a:endParaRP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633700" y="4705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550" dirty="0">
                <a:solidFill>
                  <a:srgbClr val="374151"/>
                </a:solidFill>
              </a:rPr>
              <a:t>Random Match Probability</a:t>
            </a:r>
            <a:r>
              <a:rPr lang="en" sz="4700" b="0" dirty="0">
                <a:solidFill>
                  <a:srgbClr val="374151"/>
                </a:solidFill>
              </a:rPr>
              <a:t> </a:t>
            </a:r>
            <a:endParaRPr dirty="0"/>
          </a:p>
        </p:txBody>
      </p:sp>
      <p:sp>
        <p:nvSpPr>
          <p:cNvPr id="105" name="Google Shape;105;p16"/>
          <p:cNvSpPr txBox="1">
            <a:spLocks noGrp="1"/>
          </p:cNvSpPr>
          <p:nvPr>
            <p:ph type="body" idx="1"/>
          </p:nvPr>
        </p:nvSpPr>
        <p:spPr>
          <a:xfrm>
            <a:off x="633700" y="1545775"/>
            <a:ext cx="7688700" cy="2982300"/>
          </a:xfrm>
          <a:prstGeom prst="rect">
            <a:avLst/>
          </a:prstGeom>
        </p:spPr>
        <p:txBody>
          <a:bodyPr spcFirstLastPara="1" wrap="square" lIns="91425" tIns="91425" rIns="91425" bIns="91425" anchor="t" anchorCtr="0">
            <a:normAutofit/>
          </a:bodyPr>
          <a:lstStyle/>
          <a:p>
            <a:pPr marL="136843" lvl="0" indent="0" algn="l" rtl="0">
              <a:spcBef>
                <a:spcPts val="200"/>
              </a:spcBef>
              <a:spcAft>
                <a:spcPts val="0"/>
              </a:spcAft>
              <a:buClr>
                <a:srgbClr val="374151"/>
              </a:buClr>
              <a:buSzPct val="100000"/>
              <a:buNone/>
            </a:pPr>
            <a:r>
              <a:rPr lang="en" sz="1700" dirty="0">
                <a:solidFill>
                  <a:srgbClr val="374151"/>
                </a:solidFill>
                <a:latin typeface="Raleway"/>
                <a:ea typeface="Raleway"/>
                <a:cs typeface="Raleway"/>
                <a:sym typeface="Raleway"/>
              </a:rPr>
              <a:t>Definition: RMP is the likelihood that two distinct individuals may appear to match in a biometric system purely by chance.</a:t>
            </a:r>
            <a:endParaRPr sz="1700" dirty="0">
              <a:solidFill>
                <a:srgbClr val="374151"/>
              </a:solidFill>
              <a:latin typeface="Raleway"/>
              <a:ea typeface="Raleway"/>
              <a:cs typeface="Raleway"/>
              <a:sym typeface="Raleway"/>
            </a:endParaRPr>
          </a:p>
          <a:p>
            <a:pPr marL="457200" lvl="0" indent="-320357" algn="l" rtl="0">
              <a:spcBef>
                <a:spcPts val="0"/>
              </a:spcBef>
              <a:spcAft>
                <a:spcPts val="0"/>
              </a:spcAft>
              <a:buClr>
                <a:srgbClr val="374151"/>
              </a:buClr>
              <a:buSzPct val="100000"/>
              <a:buFont typeface="Raleway"/>
              <a:buChar char="●"/>
            </a:pPr>
            <a:r>
              <a:rPr lang="en" sz="1700" dirty="0">
                <a:solidFill>
                  <a:srgbClr val="374151"/>
                </a:solidFill>
                <a:latin typeface="Raleway"/>
                <a:ea typeface="Raleway"/>
                <a:cs typeface="Raleway"/>
                <a:sym typeface="Raleway"/>
              </a:rPr>
              <a:t>Significance: Calculates the probability of erroneous matches between unrelated individuals based on biometric data.</a:t>
            </a:r>
            <a:endParaRPr sz="1700" dirty="0">
              <a:solidFill>
                <a:srgbClr val="374151"/>
              </a:solidFill>
              <a:latin typeface="Raleway"/>
              <a:ea typeface="Raleway"/>
              <a:cs typeface="Raleway"/>
              <a:sym typeface="Raleway"/>
            </a:endParaRPr>
          </a:p>
          <a:p>
            <a:pPr marL="457200" lvl="0" indent="-320357" algn="l" rtl="0">
              <a:spcBef>
                <a:spcPts val="0"/>
              </a:spcBef>
              <a:spcAft>
                <a:spcPts val="0"/>
              </a:spcAft>
              <a:buClr>
                <a:srgbClr val="374151"/>
              </a:buClr>
              <a:buSzPct val="100000"/>
              <a:buFont typeface="Raleway"/>
              <a:buChar char="●"/>
            </a:pPr>
            <a:r>
              <a:rPr lang="en" sz="1700" dirty="0">
                <a:solidFill>
                  <a:srgbClr val="374151"/>
                </a:solidFill>
                <a:latin typeface="Raleway"/>
                <a:ea typeface="Raleway"/>
                <a:cs typeface="Raleway"/>
                <a:sym typeface="Raleway"/>
              </a:rPr>
              <a:t>Importance: A lower RMP indicates a more secure and trustworthy biometric technology.</a:t>
            </a:r>
            <a:endParaRPr sz="1700" dirty="0">
              <a:solidFill>
                <a:srgbClr val="374151"/>
              </a:solidFill>
              <a:latin typeface="Raleway"/>
              <a:ea typeface="Raleway"/>
              <a:cs typeface="Raleway"/>
              <a:sym typeface="Raleway"/>
            </a:endParaRPr>
          </a:p>
          <a:p>
            <a:pPr marL="0" lvl="0" indent="0" algn="l" rtl="0">
              <a:spcBef>
                <a:spcPts val="400"/>
              </a:spcBef>
              <a:spcAft>
                <a:spcPts val="12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6620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Upper Confidence Bound</a:t>
            </a:r>
            <a:endParaRPr/>
          </a:p>
        </p:txBody>
      </p:sp>
      <p:sp>
        <p:nvSpPr>
          <p:cNvPr id="93" name="Google Shape;93;p14"/>
          <p:cNvSpPr txBox="1">
            <a:spLocks noGrp="1"/>
          </p:cNvSpPr>
          <p:nvPr>
            <p:ph type="body" idx="1"/>
          </p:nvPr>
        </p:nvSpPr>
        <p:spPr>
          <a:xfrm>
            <a:off x="838900" y="1559050"/>
            <a:ext cx="8175900" cy="2968800"/>
          </a:xfrm>
          <a:prstGeom prst="rect">
            <a:avLst/>
          </a:prstGeom>
        </p:spPr>
        <p:txBody>
          <a:bodyPr spcFirstLastPara="1" wrap="square" lIns="91425" tIns="91425" rIns="91425" bIns="91425" anchor="t" anchorCtr="0">
            <a:normAutofit fontScale="55000" lnSpcReduction="20000"/>
          </a:bodyPr>
          <a:lstStyle/>
          <a:p>
            <a:pPr marL="0" lvl="0" indent="0" algn="l" rtl="0">
              <a:lnSpc>
                <a:spcPct val="110000"/>
              </a:lnSpc>
              <a:spcBef>
                <a:spcPts val="1200"/>
              </a:spcBef>
              <a:spcAft>
                <a:spcPts val="0"/>
              </a:spcAft>
              <a:buNone/>
            </a:pPr>
            <a:r>
              <a:rPr lang="en" sz="2678">
                <a:solidFill>
                  <a:srgbClr val="EC7016"/>
                </a:solidFill>
                <a:latin typeface="Raleway"/>
                <a:ea typeface="Raleway"/>
                <a:cs typeface="Raleway"/>
                <a:sym typeface="Raleway"/>
              </a:rPr>
              <a:t> </a:t>
            </a:r>
            <a:r>
              <a:rPr lang="en" sz="2678">
                <a:solidFill>
                  <a:srgbClr val="000000"/>
                </a:solidFill>
                <a:latin typeface="Raleway"/>
                <a:ea typeface="Raleway"/>
                <a:cs typeface="Raleway"/>
                <a:sym typeface="Raleway"/>
              </a:rPr>
              <a:t>In statistics, a confidence bound, like a 95% confidence interval, indicates a 95% confidence that the true population parameter falls within the interval.</a:t>
            </a:r>
            <a:endParaRPr sz="2678">
              <a:solidFill>
                <a:srgbClr val="000000"/>
              </a:solidFill>
              <a:latin typeface="Raleway"/>
              <a:ea typeface="Raleway"/>
              <a:cs typeface="Raleway"/>
              <a:sym typeface="Raleway"/>
            </a:endParaRPr>
          </a:p>
          <a:p>
            <a:pPr marL="0" lvl="0" indent="0" algn="l" rtl="0">
              <a:lnSpc>
                <a:spcPct val="110000"/>
              </a:lnSpc>
              <a:spcBef>
                <a:spcPts val="1200"/>
              </a:spcBef>
              <a:spcAft>
                <a:spcPts val="0"/>
              </a:spcAft>
              <a:buNone/>
            </a:pPr>
            <a:r>
              <a:rPr lang="en" sz="2678">
                <a:solidFill>
                  <a:srgbClr val="EC7016"/>
                </a:solidFill>
                <a:latin typeface="Raleway"/>
                <a:ea typeface="Raleway"/>
                <a:cs typeface="Raleway"/>
                <a:sym typeface="Raleway"/>
              </a:rPr>
              <a:t> </a:t>
            </a:r>
            <a:r>
              <a:rPr lang="en" sz="2678" b="1">
                <a:solidFill>
                  <a:srgbClr val="000000"/>
                </a:solidFill>
                <a:latin typeface="Raleway"/>
                <a:ea typeface="Raleway"/>
                <a:cs typeface="Raleway"/>
                <a:sym typeface="Raleway"/>
              </a:rPr>
              <a:t>Upper Confidence Bound: </a:t>
            </a:r>
            <a:r>
              <a:rPr lang="en" sz="2678">
                <a:solidFill>
                  <a:srgbClr val="000000"/>
                </a:solidFill>
                <a:latin typeface="Raleway"/>
                <a:ea typeface="Raleway"/>
                <a:cs typeface="Raleway"/>
                <a:sym typeface="Raleway"/>
              </a:rPr>
              <a:t>In statistical terms, the upper confidence bound represents the upper limit of a previously defined confidence bound, and it signifies the value below which the true population parameter is expected to remain with a specified level of confidence, which is set at, 95%, for our case. </a:t>
            </a:r>
            <a:endParaRPr sz="2678">
              <a:solidFill>
                <a:srgbClr val="000000"/>
              </a:solidFill>
              <a:latin typeface="Raleway"/>
              <a:ea typeface="Raleway"/>
              <a:cs typeface="Raleway"/>
              <a:sym typeface="Raleway"/>
            </a:endParaRPr>
          </a:p>
          <a:p>
            <a:pPr marL="0" lvl="0" indent="0" algn="l" rtl="0">
              <a:lnSpc>
                <a:spcPct val="110000"/>
              </a:lnSpc>
              <a:spcBef>
                <a:spcPts val="1200"/>
              </a:spcBef>
              <a:spcAft>
                <a:spcPts val="0"/>
              </a:spcAft>
              <a:buNone/>
            </a:pPr>
            <a:r>
              <a:rPr lang="en" sz="2878">
                <a:solidFill>
                  <a:srgbClr val="000000"/>
                </a:solidFill>
                <a:latin typeface="Raleway"/>
                <a:ea typeface="Raleway"/>
                <a:cs typeface="Raleway"/>
                <a:sym typeface="Raleway"/>
              </a:rPr>
              <a:t>The concept of the confidence interval is very important in statistics (hypothesis testing) since it is used as a measure of uncertainty.</a:t>
            </a:r>
            <a:endParaRPr sz="2878">
              <a:solidFill>
                <a:srgbClr val="EC7016"/>
              </a:solidFill>
              <a:latin typeface="Raleway"/>
              <a:ea typeface="Raleway"/>
              <a:cs typeface="Raleway"/>
              <a:sym typeface="Raleway"/>
            </a:endParaRPr>
          </a:p>
          <a:p>
            <a:pPr marL="0" lvl="0" indent="0" algn="l" rtl="0">
              <a:lnSpc>
                <a:spcPct val="110000"/>
              </a:lnSpc>
              <a:spcBef>
                <a:spcPts val="1200"/>
              </a:spcBef>
              <a:spcAft>
                <a:spcPts val="0"/>
              </a:spcAft>
              <a:buNone/>
            </a:pPr>
            <a:r>
              <a:rPr lang="en" sz="2878">
                <a:solidFill>
                  <a:srgbClr val="000000"/>
                </a:solidFill>
                <a:latin typeface="Raleway"/>
                <a:ea typeface="Raleway"/>
                <a:cs typeface="Raleway"/>
                <a:sym typeface="Raleway"/>
              </a:rPr>
              <a:t>During a statistical computation, 95% of the true values (e.g., mean) will fall within X [lower bound] and Y [upper bound] interval.</a:t>
            </a:r>
            <a:endParaRPr sz="2878">
              <a:solidFill>
                <a:srgbClr val="000000"/>
              </a:solidFill>
              <a:latin typeface="Raleway"/>
              <a:ea typeface="Raleway"/>
              <a:cs typeface="Raleway"/>
              <a:sym typeface="Raleway"/>
            </a:endParaRPr>
          </a:p>
          <a:p>
            <a:pPr marL="0" lvl="0" indent="0" algn="l" rtl="0">
              <a:spcBef>
                <a:spcPts val="200"/>
              </a:spcBef>
              <a:spcAft>
                <a:spcPts val="1200"/>
              </a:spcAft>
              <a:buNone/>
            </a:pPr>
            <a:endParaRPr/>
          </a:p>
        </p:txBody>
      </p:sp>
    </p:spTree>
    <p:extLst>
      <p:ext uri="{BB962C8B-B14F-4D97-AF65-F5344CB8AC3E}">
        <p14:creationId xmlns:p14="http://schemas.microsoft.com/office/powerpoint/2010/main" val="533413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7650" y="6346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Monte Carlo Simulation</a:t>
            </a:r>
            <a:endParaRPr/>
          </a:p>
        </p:txBody>
      </p:sp>
      <p:sp>
        <p:nvSpPr>
          <p:cNvPr id="99" name="Google Shape;99;p15"/>
          <p:cNvSpPr txBox="1">
            <a:spLocks noGrp="1"/>
          </p:cNvSpPr>
          <p:nvPr>
            <p:ph type="body" idx="1"/>
          </p:nvPr>
        </p:nvSpPr>
        <p:spPr>
          <a:xfrm>
            <a:off x="647375" y="1532100"/>
            <a:ext cx="7688700" cy="3310500"/>
          </a:xfrm>
          <a:prstGeom prst="rect">
            <a:avLst/>
          </a:prstGeom>
        </p:spPr>
        <p:txBody>
          <a:bodyPr spcFirstLastPara="1" wrap="square" lIns="91425" tIns="91425" rIns="91425" bIns="91425" anchor="t" anchorCtr="0">
            <a:normAutofit fontScale="92500" lnSpcReduction="20000"/>
          </a:bodyPr>
          <a:lstStyle/>
          <a:p>
            <a:pPr marL="0" lvl="0" indent="0" algn="l" rtl="0">
              <a:lnSpc>
                <a:spcPct val="110000"/>
              </a:lnSpc>
              <a:spcBef>
                <a:spcPts val="1200"/>
              </a:spcBef>
              <a:spcAft>
                <a:spcPts val="0"/>
              </a:spcAft>
              <a:buNone/>
            </a:pPr>
            <a:r>
              <a:rPr lang="en" sz="1900" b="1" dirty="0">
                <a:solidFill>
                  <a:srgbClr val="374151"/>
                </a:solidFill>
                <a:latin typeface="Raleway"/>
                <a:ea typeface="Raleway"/>
                <a:cs typeface="Raleway"/>
                <a:sym typeface="Raleway"/>
              </a:rPr>
              <a:t>Definition:</a:t>
            </a:r>
            <a:r>
              <a:rPr lang="en" sz="1900" dirty="0">
                <a:solidFill>
                  <a:srgbClr val="374151"/>
                </a:solidFill>
                <a:latin typeface="Raleway"/>
                <a:ea typeface="Raleway"/>
                <a:cs typeface="Raleway"/>
                <a:sym typeface="Raleway"/>
              </a:rPr>
              <a:t> Monte Carlo Simulation is a computational technique involving repeated random sampling to perform a wide range of experiments and obtain numerical results.</a:t>
            </a:r>
            <a:endParaRPr sz="1900" dirty="0">
              <a:solidFill>
                <a:srgbClr val="374151"/>
              </a:solidFill>
              <a:latin typeface="Raleway"/>
              <a:ea typeface="Raleway"/>
              <a:cs typeface="Raleway"/>
              <a:sym typeface="Raleway"/>
            </a:endParaRPr>
          </a:p>
          <a:p>
            <a:pPr marL="146050" indent="0" rtl="0">
              <a:spcBef>
                <a:spcPts val="1200"/>
              </a:spcBef>
              <a:spcAft>
                <a:spcPts val="200"/>
              </a:spcAft>
              <a:buNone/>
            </a:pPr>
            <a:r>
              <a:rPr lang="en-US" sz="1800" b="0" i="0" u="none" strike="noStrike" dirty="0">
                <a:solidFill>
                  <a:srgbClr val="374151"/>
                </a:solidFill>
                <a:effectLst/>
                <a:latin typeface="Raleway" pitchFamily="2" charset="0"/>
              </a:rPr>
              <a:t>We Conducted the Simulations:</a:t>
            </a:r>
            <a:endParaRPr lang="en-US" sz="2800" b="0" dirty="0">
              <a:effectLst/>
            </a:endParaRPr>
          </a:p>
          <a:p>
            <a:pPr rtl="0">
              <a:spcBef>
                <a:spcPts val="1200"/>
              </a:spcBef>
              <a:spcAft>
                <a:spcPts val="200"/>
              </a:spcAft>
            </a:pPr>
            <a:r>
              <a:rPr lang="en-US" sz="1800" b="0" i="0" u="none" strike="noStrike" dirty="0">
                <a:solidFill>
                  <a:srgbClr val="374151"/>
                </a:solidFill>
                <a:effectLst/>
                <a:latin typeface="Raleway" pitchFamily="2" charset="0"/>
              </a:rPr>
              <a:t>To Perform multiple runs of the simulation, each time calculating the RMP using the three different statistical methods.</a:t>
            </a:r>
            <a:endParaRPr lang="en-US" sz="2800" b="0" dirty="0">
              <a:effectLst/>
            </a:endParaRPr>
          </a:p>
          <a:p>
            <a:pPr rtl="0">
              <a:spcBef>
                <a:spcPts val="1200"/>
              </a:spcBef>
              <a:spcAft>
                <a:spcPts val="200"/>
              </a:spcAft>
            </a:pPr>
            <a:r>
              <a:rPr lang="en-US" sz="1800" b="0" i="0" u="none" strike="noStrike" dirty="0">
                <a:solidFill>
                  <a:srgbClr val="374151"/>
                </a:solidFill>
                <a:effectLst/>
                <a:latin typeface="Raleway" pitchFamily="2" charset="0"/>
              </a:rPr>
              <a:t>For each method, determine the upper confidence bound of the RMP and observed how closely these bounds contain the true RMP,  from this Monte Carlo simulation setup.</a:t>
            </a:r>
            <a:endParaRPr lang="en-US" sz="2800" b="0" dirty="0">
              <a:effectLst/>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6003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UB1 - i.i.d. Binomial Assumption</a:t>
            </a:r>
            <a:endParaRPr/>
          </a:p>
        </p:txBody>
      </p:sp>
      <mc:AlternateContent xmlns:mc="http://schemas.openxmlformats.org/markup-compatibility/2006" xmlns:a14="http://schemas.microsoft.com/office/drawing/2010/main">
        <mc:Choice Requires="a14">
          <p:sp>
            <p:nvSpPr>
              <p:cNvPr id="111" name="Google Shape;111;p17"/>
              <p:cNvSpPr txBox="1">
                <a:spLocks noGrp="1"/>
              </p:cNvSpPr>
              <p:nvPr>
                <p:ph type="body" idx="1"/>
              </p:nvPr>
            </p:nvSpPr>
            <p:spPr>
              <a:xfrm>
                <a:off x="570300" y="1586950"/>
                <a:ext cx="7688700" cy="2261100"/>
              </a:xfrm>
              <a:prstGeom prst="rect">
                <a:avLst/>
              </a:prstGeom>
            </p:spPr>
            <p:txBody>
              <a:bodyPr spcFirstLastPara="1" wrap="square" lIns="91425" tIns="91425" rIns="91425" bIns="91425" anchor="t" anchorCtr="0">
                <a:normAutofit fontScale="77500" lnSpcReduction="20000"/>
              </a:bodyPr>
              <a:lstStyle/>
              <a:p>
                <a:pPr marL="0" lvl="0" indent="0" algn="l" rtl="0">
                  <a:lnSpc>
                    <a:spcPct val="107000"/>
                  </a:lnSpc>
                  <a:spcBef>
                    <a:spcPts val="0"/>
                  </a:spcBef>
                  <a:spcAft>
                    <a:spcPts val="0"/>
                  </a:spcAft>
                  <a:buNone/>
                </a:pPr>
                <a:r>
                  <a:rPr lang="en-GB" sz="1800" b="1" dirty="0">
                    <a:solidFill>
                      <a:srgbClr val="404040"/>
                    </a:solidFill>
                    <a:latin typeface="Arial"/>
                    <a:ea typeface="Arial"/>
                    <a:cs typeface="Arial"/>
                    <a:sym typeface="Arial"/>
                  </a:rPr>
                  <a:t>Assumption: </a:t>
                </a:r>
                <a:r>
                  <a:rPr lang="en-GB" sz="1800" dirty="0">
                    <a:solidFill>
                      <a:srgbClr val="404040"/>
                    </a:solidFill>
                    <a:latin typeface="Arial"/>
                    <a:ea typeface="Arial"/>
                    <a:cs typeface="Arial"/>
                    <a:sym typeface="Arial"/>
                  </a:rPr>
                  <a:t>This bound assumes that the matching status between any two profiles </a:t>
                </a:r>
                <a:r>
                  <a:rPr lang="en-GB" sz="1800" i="1" dirty="0">
                    <a:solidFill>
                      <a:srgbClr val="404040"/>
                    </a:solidFill>
                    <a:latin typeface="Arial"/>
                    <a:ea typeface="Arial"/>
                    <a:cs typeface="Arial"/>
                    <a:sym typeface="Arial"/>
                  </a:rPr>
                  <a:t>X</a:t>
                </a:r>
                <a:r>
                  <a:rPr lang="en-GB" sz="3000" i="1" baseline="-25000" dirty="0">
                    <a:solidFill>
                      <a:srgbClr val="404040"/>
                    </a:solidFill>
                    <a:latin typeface="Arial"/>
                    <a:ea typeface="Arial"/>
                    <a:cs typeface="Arial"/>
                    <a:sym typeface="Arial"/>
                  </a:rPr>
                  <a:t>i ​</a:t>
                </a:r>
                <a:r>
                  <a:rPr lang="en-GB" sz="1800" dirty="0">
                    <a:solidFill>
                      <a:srgbClr val="404040"/>
                    </a:solidFill>
                    <a:latin typeface="Arial"/>
                    <a:ea typeface="Arial"/>
                    <a:cs typeface="Arial"/>
                    <a:sym typeface="Arial"/>
                  </a:rPr>
                  <a:t> and </a:t>
                </a:r>
                <a:r>
                  <a:rPr lang="en-GB" sz="1800" i="1" dirty="0">
                    <a:solidFill>
                      <a:srgbClr val="404040"/>
                    </a:solidFill>
                    <a:latin typeface="Arial"/>
                    <a:ea typeface="Arial"/>
                    <a:cs typeface="Arial"/>
                    <a:sym typeface="Arial"/>
                  </a:rPr>
                  <a:t>X</a:t>
                </a:r>
                <a:r>
                  <a:rPr lang="en-GB" sz="3000" i="1" baseline="-25000" dirty="0">
                    <a:solidFill>
                      <a:srgbClr val="404040"/>
                    </a:solidFill>
                    <a:latin typeface="Arial"/>
                    <a:ea typeface="Arial"/>
                    <a:cs typeface="Arial"/>
                    <a:sym typeface="Arial"/>
                  </a:rPr>
                  <a:t>j​</a:t>
                </a:r>
                <a:r>
                  <a:rPr lang="en-GB" sz="1800" dirty="0">
                    <a:solidFill>
                      <a:srgbClr val="404040"/>
                    </a:solidFill>
                    <a:latin typeface="Arial"/>
                    <a:ea typeface="Arial"/>
                    <a:cs typeface="Arial"/>
                    <a:sym typeface="Arial"/>
                  </a:rPr>
                  <a:t> is independent and identically distributed (i.i.d.) as a binomial random variable with probability </a:t>
                </a:r>
                <a:r>
                  <a:rPr lang="el-GR" sz="1800" dirty="0">
                    <a:solidFill>
                      <a:srgbClr val="404040"/>
                    </a:solidFill>
                    <a:latin typeface="Arial"/>
                    <a:ea typeface="Arial"/>
                    <a:cs typeface="Arial"/>
                    <a:sym typeface="Arial"/>
                  </a:rPr>
                  <a:t>θ.</a:t>
                </a:r>
              </a:p>
              <a:p>
                <a:pPr marL="0" lvl="0" indent="0" algn="l" rtl="0">
                  <a:spcBef>
                    <a:spcPts val="800"/>
                  </a:spcBef>
                  <a:spcAft>
                    <a:spcPts val="0"/>
                  </a:spcAft>
                  <a:buNone/>
                </a:pPr>
                <a:r>
                  <a:rPr lang="en-GB" sz="1800" b="1" dirty="0">
                    <a:solidFill>
                      <a:srgbClr val="404040"/>
                    </a:solidFill>
                    <a:latin typeface="Arial"/>
                    <a:ea typeface="Arial"/>
                    <a:cs typeface="Arial"/>
                    <a:sym typeface="Arial"/>
                  </a:rPr>
                  <a:t>Formula: </a:t>
                </a:r>
                <a:r>
                  <a:rPr lang="en-GB" sz="1800" dirty="0">
                    <a:solidFill>
                      <a:srgbClr val="404040"/>
                    </a:solidFill>
                    <a:latin typeface="Arial"/>
                    <a:ea typeface="Arial"/>
                    <a:cs typeface="Arial"/>
                    <a:sym typeface="Arial"/>
                  </a:rPr>
                  <a:t>The 95% upper confidence bound for </a:t>
                </a:r>
                <a:r>
                  <a:rPr lang="el-GR" sz="1800" dirty="0">
                    <a:solidFill>
                      <a:srgbClr val="404040"/>
                    </a:solidFill>
                    <a:latin typeface="Arial"/>
                    <a:ea typeface="Arial"/>
                    <a:cs typeface="Arial"/>
                    <a:sym typeface="Arial"/>
                  </a:rPr>
                  <a:t>θ (</a:t>
                </a:r>
                <a:r>
                  <a:rPr lang="en-GB" sz="1800" dirty="0">
                    <a:solidFill>
                      <a:srgbClr val="404040"/>
                    </a:solidFill>
                    <a:latin typeface="Arial"/>
                    <a:ea typeface="Arial"/>
                    <a:cs typeface="Arial"/>
                    <a:sym typeface="Arial"/>
                  </a:rPr>
                  <a:t>UB1) is calculated using the sample estimate 𝜃 ̂_𝑛 and is based on the binomial distribution.</a:t>
                </a:r>
              </a:p>
              <a:p>
                <a:pPr marL="0" lvl="0" indent="0">
                  <a:spcBef>
                    <a:spcPts val="1200"/>
                  </a:spcBef>
                  <a:spcAft>
                    <a:spcPts val="1200"/>
                  </a:spcAft>
                  <a:buNone/>
                </a:pPr>
                <a:r>
                  <a:rPr lang="en-GB" sz="1800" dirty="0">
                    <a:solidFill>
                      <a:srgbClr val="404040"/>
                    </a:solidFill>
                    <a:latin typeface="Arial"/>
                    <a:ea typeface="Arial"/>
                    <a:cs typeface="Arial"/>
                    <a:sym typeface="Arial"/>
                  </a:rPr>
                  <a:t>It uses the formula:</a:t>
                </a:r>
                <a14:m>
                  <m:oMath xmlns:m="http://schemas.openxmlformats.org/officeDocument/2006/math">
                    <m:r>
                      <a:rPr lang="en-GB" sz="2600" b="0" i="0" smtClean="0">
                        <a:latin typeface="Cambria Math" panose="02040503050406030204" pitchFamily="18" charset="0"/>
                      </a:rPr>
                      <m:t> </m:t>
                    </m:r>
                    <m:r>
                      <a:rPr lang="en-GB" sz="2600" i="1">
                        <a:latin typeface="Cambria Math" panose="02040503050406030204" pitchFamily="18" charset="0"/>
                      </a:rPr>
                      <m:t>𝑈</m:t>
                    </m:r>
                    <m:sSub>
                      <m:sSubPr>
                        <m:ctrlPr>
                          <a:rPr lang="ar-AE" sz="2600" i="1">
                            <a:latin typeface="Cambria Math" panose="02040503050406030204" pitchFamily="18" charset="0"/>
                          </a:rPr>
                        </m:ctrlPr>
                      </m:sSubPr>
                      <m:e>
                        <m:r>
                          <a:rPr lang="ar-AE" sz="2600" i="1">
                            <a:latin typeface="Cambria Math" panose="02040503050406030204" pitchFamily="18" charset="0"/>
                          </a:rPr>
                          <m:t>𝐵</m:t>
                        </m:r>
                      </m:e>
                      <m:sub>
                        <m:r>
                          <a:rPr lang="ar-AE" sz="2600" i="1">
                            <a:latin typeface="Cambria Math" panose="02040503050406030204" pitchFamily="18" charset="0"/>
                          </a:rPr>
                          <m:t>1</m:t>
                        </m:r>
                      </m:sub>
                    </m:sSub>
                    <m:r>
                      <a:rPr lang="ar-AE" sz="2600" i="1">
                        <a:latin typeface="Cambria Math" panose="02040503050406030204" pitchFamily="18" charset="0"/>
                      </a:rPr>
                      <m:t> = </m:t>
                    </m:r>
                    <m:sSub>
                      <m:sSubPr>
                        <m:ctrlPr>
                          <a:rPr lang="ar-AE" sz="2600" i="1">
                            <a:latin typeface="Cambria Math" panose="02040503050406030204" pitchFamily="18" charset="0"/>
                          </a:rPr>
                        </m:ctrlPr>
                      </m:sSubPr>
                      <m:e>
                        <m:acc>
                          <m:accPr>
                            <m:chr m:val="̂"/>
                            <m:ctrlPr>
                              <a:rPr lang="ar-AE" sz="2600" i="1">
                                <a:latin typeface="Cambria Math" panose="02040503050406030204" pitchFamily="18" charset="0"/>
                              </a:rPr>
                            </m:ctrlPr>
                          </m:accPr>
                          <m:e>
                            <m:r>
                              <a:rPr lang="ar-AE" sz="2600" i="1">
                                <a:latin typeface="Cambria Math" panose="02040503050406030204" pitchFamily="18" charset="0"/>
                              </a:rPr>
                              <m:t>𝜃</m:t>
                            </m:r>
                          </m:e>
                        </m:acc>
                      </m:e>
                      <m:sub>
                        <m:r>
                          <a:rPr lang="ar-AE" sz="2600" i="1">
                            <a:latin typeface="Cambria Math" panose="02040503050406030204" pitchFamily="18" charset="0"/>
                          </a:rPr>
                          <m:t>𝑛</m:t>
                        </m:r>
                      </m:sub>
                    </m:sSub>
                    <m:r>
                      <a:rPr lang="ar-AE" sz="2600" i="1">
                        <a:latin typeface="Cambria Math" panose="02040503050406030204" pitchFamily="18" charset="0"/>
                      </a:rPr>
                      <m:t> + </m:t>
                    </m:r>
                    <m:r>
                      <a:rPr lang="ar-AE" sz="2600" i="1">
                        <a:latin typeface="Cambria Math" panose="02040503050406030204" pitchFamily="18" charset="0"/>
                      </a:rPr>
                      <m:t>1</m:t>
                    </m:r>
                    <m:r>
                      <a:rPr lang="ar-AE" sz="2600" i="1">
                        <a:latin typeface="Cambria Math" panose="02040503050406030204" pitchFamily="18" charset="0"/>
                      </a:rPr>
                      <m:t>.</m:t>
                    </m:r>
                    <m:r>
                      <a:rPr lang="ar-AE" sz="2600" i="1">
                        <a:latin typeface="Cambria Math" panose="02040503050406030204" pitchFamily="18" charset="0"/>
                      </a:rPr>
                      <m:t>645</m:t>
                    </m:r>
                    <m:rad>
                      <m:radPr>
                        <m:degHide m:val="on"/>
                        <m:ctrlPr>
                          <a:rPr lang="ar-AE" sz="2600" i="1">
                            <a:latin typeface="Cambria Math" panose="02040503050406030204" pitchFamily="18" charset="0"/>
                          </a:rPr>
                        </m:ctrlPr>
                      </m:radPr>
                      <m:deg/>
                      <m:e>
                        <m:f>
                          <m:fPr>
                            <m:ctrlPr>
                              <a:rPr lang="ar-AE" sz="2600" i="1">
                                <a:latin typeface="Cambria Math" panose="02040503050406030204" pitchFamily="18" charset="0"/>
                              </a:rPr>
                            </m:ctrlPr>
                          </m:fPr>
                          <m:num>
                            <m:sSub>
                              <m:sSubPr>
                                <m:ctrlPr>
                                  <a:rPr lang="ar-AE" sz="2600" i="1">
                                    <a:latin typeface="Cambria Math" panose="02040503050406030204" pitchFamily="18" charset="0"/>
                                  </a:rPr>
                                </m:ctrlPr>
                              </m:sSubPr>
                              <m:e>
                                <m:acc>
                                  <m:accPr>
                                    <m:chr m:val="̂"/>
                                    <m:ctrlPr>
                                      <a:rPr lang="ar-AE" sz="2600" i="1">
                                        <a:latin typeface="Cambria Math" panose="02040503050406030204" pitchFamily="18" charset="0"/>
                                      </a:rPr>
                                    </m:ctrlPr>
                                  </m:accPr>
                                  <m:e>
                                    <m:r>
                                      <a:rPr lang="ar-AE" sz="2600" i="1">
                                        <a:latin typeface="Cambria Math" panose="02040503050406030204" pitchFamily="18" charset="0"/>
                                      </a:rPr>
                                      <m:t>𝜃</m:t>
                                    </m:r>
                                  </m:e>
                                </m:acc>
                              </m:e>
                              <m:sub>
                                <m:r>
                                  <a:rPr lang="ar-AE" sz="2600" i="1">
                                    <a:latin typeface="Cambria Math" panose="02040503050406030204" pitchFamily="18" charset="0"/>
                                  </a:rPr>
                                  <m:t>𝑛</m:t>
                                </m:r>
                              </m:sub>
                            </m:sSub>
                            <m:r>
                              <a:rPr lang="ar-AE" sz="2600" i="1">
                                <a:latin typeface="Cambria Math" panose="02040503050406030204" pitchFamily="18" charset="0"/>
                              </a:rPr>
                              <m:t>(</m:t>
                            </m:r>
                            <m:r>
                              <a:rPr lang="ar-AE" sz="2600" i="1">
                                <a:latin typeface="Cambria Math" panose="02040503050406030204" pitchFamily="18" charset="0"/>
                              </a:rPr>
                              <m:t>1</m:t>
                            </m:r>
                            <m:r>
                              <a:rPr lang="ar-AE" sz="2600" i="1">
                                <a:latin typeface="Cambria Math" panose="02040503050406030204" pitchFamily="18" charset="0"/>
                              </a:rPr>
                              <m:t>−</m:t>
                            </m:r>
                            <m:sSub>
                              <m:sSubPr>
                                <m:ctrlPr>
                                  <a:rPr lang="ar-AE" sz="2600" i="1">
                                    <a:latin typeface="Cambria Math" panose="02040503050406030204" pitchFamily="18" charset="0"/>
                                  </a:rPr>
                                </m:ctrlPr>
                              </m:sSubPr>
                              <m:e>
                                <m:acc>
                                  <m:accPr>
                                    <m:chr m:val="̂"/>
                                    <m:ctrlPr>
                                      <a:rPr lang="ar-AE" sz="2600" i="1">
                                        <a:latin typeface="Cambria Math" panose="02040503050406030204" pitchFamily="18" charset="0"/>
                                      </a:rPr>
                                    </m:ctrlPr>
                                  </m:accPr>
                                  <m:e>
                                    <m:r>
                                      <a:rPr lang="ar-AE" sz="2600" i="1">
                                        <a:latin typeface="Cambria Math" panose="02040503050406030204" pitchFamily="18" charset="0"/>
                                      </a:rPr>
                                      <m:t>𝜃</m:t>
                                    </m:r>
                                  </m:e>
                                </m:acc>
                              </m:e>
                              <m:sub>
                                <m:r>
                                  <a:rPr lang="ar-AE" sz="2600" i="1">
                                    <a:latin typeface="Cambria Math" panose="02040503050406030204" pitchFamily="18" charset="0"/>
                                  </a:rPr>
                                  <m:t>𝑛</m:t>
                                </m:r>
                              </m:sub>
                            </m:sSub>
                            <m:r>
                              <a:rPr lang="ar-AE" sz="2600" i="1">
                                <a:latin typeface="Cambria Math" panose="02040503050406030204" pitchFamily="18" charset="0"/>
                              </a:rPr>
                              <m:t>)</m:t>
                            </m:r>
                          </m:num>
                          <m:den>
                            <m:sSup>
                              <m:sSupPr>
                                <m:ctrlPr>
                                  <a:rPr lang="ar-AE" sz="2600" i="1">
                                    <a:latin typeface="Cambria Math" panose="02040503050406030204" pitchFamily="18" charset="0"/>
                                  </a:rPr>
                                </m:ctrlPr>
                              </m:sSupPr>
                              <m:e>
                                <m:r>
                                  <a:rPr lang="ar-AE" sz="2600" i="1">
                                    <a:latin typeface="Cambria Math" panose="02040503050406030204" pitchFamily="18" charset="0"/>
                                  </a:rPr>
                                  <m:t>(</m:t>
                                </m:r>
                                <m:f>
                                  <m:fPr>
                                    <m:type m:val="noBar"/>
                                    <m:ctrlPr>
                                      <a:rPr lang="ar-AE" sz="2600" i="1">
                                        <a:latin typeface="Cambria Math" panose="02040503050406030204" pitchFamily="18" charset="0"/>
                                      </a:rPr>
                                    </m:ctrlPr>
                                  </m:fPr>
                                  <m:num>
                                    <m:r>
                                      <a:rPr lang="ar-AE" sz="2600" i="1">
                                        <a:latin typeface="Cambria Math" panose="02040503050406030204" pitchFamily="18" charset="0"/>
                                      </a:rPr>
                                      <m:t>𝑛</m:t>
                                    </m:r>
                                  </m:num>
                                  <m:den>
                                    <m:r>
                                      <a:rPr lang="ar-AE" sz="2600" i="1">
                                        <a:latin typeface="Cambria Math" panose="02040503050406030204" pitchFamily="18" charset="0"/>
                                      </a:rPr>
                                      <m:t>2</m:t>
                                    </m:r>
                                  </m:den>
                                </m:f>
                                <m:r>
                                  <a:rPr lang="ar-AE" sz="2600" i="1">
                                    <a:latin typeface="Cambria Math" panose="02040503050406030204" pitchFamily="18" charset="0"/>
                                  </a:rPr>
                                  <m:t>)</m:t>
                                </m:r>
                              </m:e>
                              <m:sup>
                                <m:r>
                                  <a:rPr lang="ar-AE" sz="2600" i="1">
                                    <a:latin typeface="Cambria Math" panose="02040503050406030204" pitchFamily="18" charset="0"/>
                                  </a:rPr>
                                  <m:t>𝑇</m:t>
                                </m:r>
                              </m:sup>
                            </m:sSup>
                          </m:den>
                        </m:f>
                      </m:e>
                    </m:rad>
                  </m:oMath>
                </a14:m>
                <a:endParaRPr sz="2600" dirty="0"/>
              </a:p>
            </p:txBody>
          </p:sp>
        </mc:Choice>
        <mc:Fallback xmlns="">
          <p:sp>
            <p:nvSpPr>
              <p:cNvPr id="111" name="Google Shape;111;p17"/>
              <p:cNvSpPr txBox="1">
                <a:spLocks noGrp="1" noRot="1" noChangeAspect="1" noMove="1" noResize="1" noEditPoints="1" noAdjustHandles="1" noChangeArrowheads="1" noChangeShapeType="1" noTextEdit="1"/>
              </p:cNvSpPr>
              <p:nvPr>
                <p:ph type="body" idx="1"/>
              </p:nvPr>
            </p:nvSpPr>
            <p:spPr>
              <a:xfrm>
                <a:off x="570300" y="1586950"/>
                <a:ext cx="7688700" cy="2261100"/>
              </a:xfrm>
              <a:prstGeom prst="rect">
                <a:avLst/>
              </a:prstGeom>
              <a:blipFill>
                <a:blip r:embed="rId3"/>
                <a:stretch>
                  <a:fillRect l="-238"/>
                </a:stretch>
              </a:blipFill>
            </p:spPr>
            <p:txBody>
              <a:bodyPr/>
              <a:lstStyle/>
              <a:p>
                <a:r>
                  <a:rPr lang="en-GB">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606325" y="593650"/>
            <a:ext cx="81075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UB2 - Independent Comparisons Binomial Assumption</a:t>
            </a:r>
            <a:endParaRPr/>
          </a:p>
        </p:txBody>
      </p:sp>
      <mc:AlternateContent xmlns:mc="http://schemas.openxmlformats.org/markup-compatibility/2006" xmlns:a14="http://schemas.microsoft.com/office/drawing/2010/main">
        <mc:Choice Requires="a14">
          <p:sp>
            <p:nvSpPr>
              <p:cNvPr id="118" name="Google Shape;118;p18"/>
              <p:cNvSpPr txBox="1">
                <a:spLocks noGrp="1"/>
              </p:cNvSpPr>
              <p:nvPr>
                <p:ph type="body" idx="1"/>
              </p:nvPr>
            </p:nvSpPr>
            <p:spPr>
              <a:xfrm>
                <a:off x="727650" y="1600100"/>
                <a:ext cx="7688700" cy="2261100"/>
              </a:xfrm>
              <a:prstGeom prst="rect">
                <a:avLst/>
              </a:prstGeom>
            </p:spPr>
            <p:txBody>
              <a:bodyPr spcFirstLastPara="1" wrap="square" lIns="91425" tIns="91425" rIns="91425" bIns="91425" anchor="t" anchorCtr="0">
                <a:normAutofit fontScale="77500" lnSpcReduction="20000"/>
              </a:bodyPr>
              <a:lstStyle/>
              <a:p>
                <a:pPr marL="0" lvl="0" indent="0" algn="l" rtl="0">
                  <a:lnSpc>
                    <a:spcPct val="110000"/>
                  </a:lnSpc>
                  <a:spcBef>
                    <a:spcPts val="1200"/>
                  </a:spcBef>
                  <a:spcAft>
                    <a:spcPts val="0"/>
                  </a:spcAft>
                  <a:buNone/>
                </a:pPr>
                <a:r>
                  <a:rPr lang="en" sz="2400" dirty="0">
                    <a:solidFill>
                      <a:srgbClr val="404040"/>
                    </a:solidFill>
                    <a:latin typeface="Arial"/>
                    <a:ea typeface="Arial"/>
                    <a:cs typeface="Arial"/>
                    <a:sym typeface="Arial"/>
                  </a:rPr>
                  <a:t>Similar to UB1, this bound assumes independence of matching comparisons, but it differs in its denominator. It assumes a binomial distributions for n/2 comparisons.</a:t>
                </a:r>
                <a:endParaRPr sz="2400" dirty="0">
                  <a:solidFill>
                    <a:srgbClr val="404040"/>
                  </a:solidFill>
                  <a:latin typeface="Arial"/>
                  <a:ea typeface="Arial"/>
                  <a:cs typeface="Arial"/>
                  <a:sym typeface="Arial"/>
                </a:endParaRPr>
              </a:p>
              <a:p>
                <a:pPr marL="0" lvl="0" indent="0" algn="l" rtl="0">
                  <a:lnSpc>
                    <a:spcPct val="110000"/>
                  </a:lnSpc>
                  <a:spcBef>
                    <a:spcPts val="1200"/>
                  </a:spcBef>
                  <a:spcAft>
                    <a:spcPts val="0"/>
                  </a:spcAft>
                  <a:buNone/>
                </a:pPr>
                <a:r>
                  <a:rPr lang="en" sz="2400" dirty="0">
                    <a:solidFill>
                      <a:srgbClr val="EC7016"/>
                    </a:solidFill>
                    <a:latin typeface="Arial"/>
                    <a:ea typeface="Arial"/>
                    <a:cs typeface="Arial"/>
                    <a:sym typeface="Arial"/>
                  </a:rPr>
                  <a:t> </a:t>
                </a:r>
                <a:r>
                  <a:rPr lang="en" sz="2400" dirty="0">
                    <a:solidFill>
                      <a:srgbClr val="404040"/>
                    </a:solidFill>
                    <a:latin typeface="Arial"/>
                    <a:ea typeface="Arial"/>
                    <a:cs typeface="Arial"/>
                    <a:sym typeface="Arial"/>
                  </a:rPr>
                  <a:t>Formula: </a:t>
                </a:r>
                <a14:m>
                  <m:oMath xmlns:m="http://schemas.openxmlformats.org/officeDocument/2006/math">
                    <m:r>
                      <a:rPr lang="en-US" sz="3000" i="1" smtClean="0">
                        <a:effectLst/>
                        <a:latin typeface="Cambria Math" panose="02040503050406030204" pitchFamily="18" charset="0"/>
                        <a:ea typeface="Times New Roman" panose="02020603050405020304" pitchFamily="18" charset="0"/>
                        <a:cs typeface="Times New Roman" panose="02020603050405020304" pitchFamily="18" charset="0"/>
                      </a:rPr>
                      <m:t>𝑈</m:t>
                    </m:r>
                    <m:sSub>
                      <m:sSubPr>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1</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645</m:t>
                    </m:r>
                    <m:rad>
                      <m:radPr>
                        <m:degHide m:val="on"/>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radPr>
                      <m:deg/>
                      <m:e>
                        <m:f>
                          <m:fPr>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1</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m:t>
                            </m:r>
                          </m:num>
                          <m:den>
                            <m:f>
                              <m:fPr>
                                <m:ctrlPr>
                                  <a:rPr lang="en-GB" sz="3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2</m:t>
                                </m:r>
                              </m:den>
                            </m:f>
                          </m:den>
                        </m:f>
                      </m:e>
                    </m:rad>
                  </m:oMath>
                </a14:m>
                <a:endParaRPr sz="3000" dirty="0">
                  <a:solidFill>
                    <a:srgbClr val="404040"/>
                  </a:solidFill>
                  <a:latin typeface="Arial"/>
                  <a:ea typeface="Arial"/>
                  <a:cs typeface="Arial"/>
                  <a:sym typeface="Arial"/>
                </a:endParaRPr>
              </a:p>
              <a:p>
                <a:pPr marL="0" lvl="0" indent="0" algn="l" rtl="0">
                  <a:spcBef>
                    <a:spcPts val="200"/>
                  </a:spcBef>
                  <a:spcAft>
                    <a:spcPts val="1200"/>
                  </a:spcAft>
                  <a:buNone/>
                </a:pPr>
                <a:endParaRPr dirty="0"/>
              </a:p>
            </p:txBody>
          </p:sp>
        </mc:Choice>
        <mc:Fallback xmlns="">
          <p:sp>
            <p:nvSpPr>
              <p:cNvPr id="118" name="Google Shape;118;p18"/>
              <p:cNvSpPr txBox="1">
                <a:spLocks noGrp="1" noRot="1" noChangeAspect="1" noMove="1" noResize="1" noEditPoints="1" noAdjustHandles="1" noChangeArrowheads="1" noChangeShapeType="1" noTextEdit="1"/>
              </p:cNvSpPr>
              <p:nvPr>
                <p:ph type="body" idx="1"/>
              </p:nvPr>
            </p:nvSpPr>
            <p:spPr>
              <a:xfrm>
                <a:off x="727650" y="1600100"/>
                <a:ext cx="7688700" cy="2261100"/>
              </a:xfrm>
              <a:prstGeom prst="rect">
                <a:avLst/>
              </a:prstGeom>
              <a:blipFill>
                <a:blip r:embed="rId3"/>
                <a:stretch>
                  <a:fillRect l="-713"/>
                </a:stretch>
              </a:blipFill>
            </p:spPr>
            <p:txBody>
              <a:bodyPr/>
              <a:lstStyle/>
              <a:p>
                <a:r>
                  <a:rPr lang="en-GB">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729450" y="579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UB3 - A U-Statistic Approach</a:t>
            </a:r>
            <a:endParaRPr/>
          </a:p>
        </p:txBody>
      </p:sp>
      <mc:AlternateContent xmlns:mc="http://schemas.openxmlformats.org/markup-compatibility/2006" xmlns:a14="http://schemas.microsoft.com/office/drawing/2010/main">
        <mc:Choice Requires="a14">
          <p:sp>
            <p:nvSpPr>
              <p:cNvPr id="125" name="Google Shape;125;p19"/>
              <p:cNvSpPr txBox="1">
                <a:spLocks noGrp="1"/>
              </p:cNvSpPr>
              <p:nvPr>
                <p:ph type="body" idx="1"/>
              </p:nvPr>
            </p:nvSpPr>
            <p:spPr>
              <a:xfrm>
                <a:off x="633700" y="1441200"/>
                <a:ext cx="7688700" cy="2261100"/>
              </a:xfrm>
              <a:prstGeom prst="rect">
                <a:avLst/>
              </a:prstGeom>
            </p:spPr>
            <p:txBody>
              <a:bodyPr spcFirstLastPara="1" wrap="square" lIns="91425" tIns="91425" rIns="91425" bIns="91425" anchor="t" anchorCtr="0">
                <a:normAutofit fontScale="70000" lnSpcReduction="20000"/>
              </a:bodyPr>
              <a:lstStyle/>
              <a:p>
                <a:pPr marL="0" lvl="0" indent="0" algn="l" rtl="0">
                  <a:lnSpc>
                    <a:spcPct val="110000"/>
                  </a:lnSpc>
                  <a:spcBef>
                    <a:spcPts val="1200"/>
                  </a:spcBef>
                  <a:spcAft>
                    <a:spcPts val="0"/>
                  </a:spcAft>
                  <a:buNone/>
                </a:pPr>
                <a:r>
                  <a:rPr lang="en-GB" sz="2400" dirty="0">
                    <a:solidFill>
                      <a:srgbClr val="404040"/>
                    </a:solidFill>
                    <a:latin typeface="Arial"/>
                    <a:ea typeface="Arial"/>
                    <a:cs typeface="Arial"/>
                    <a:sym typeface="Arial"/>
                  </a:rPr>
                  <a:t>This approach does not assume independence of matching comparisons but uses a U-statistic approach. It considers the proportions of matching profiles for each profile in the sample and the variance of these proportions.</a:t>
                </a:r>
              </a:p>
              <a:p>
                <a:pPr marL="0" lvl="0" indent="0" algn="l" rtl="0">
                  <a:lnSpc>
                    <a:spcPct val="110000"/>
                  </a:lnSpc>
                  <a:spcBef>
                    <a:spcPts val="1200"/>
                  </a:spcBef>
                  <a:spcAft>
                    <a:spcPts val="0"/>
                  </a:spcAft>
                  <a:buNone/>
                </a:pPr>
                <a:endParaRPr lang="en-GB" sz="2400" dirty="0">
                  <a:solidFill>
                    <a:srgbClr val="404040"/>
                  </a:solidFill>
                  <a:latin typeface="Arial"/>
                  <a:ea typeface="Arial"/>
                  <a:cs typeface="Arial"/>
                  <a:sym typeface="Arial"/>
                </a:endParaRPr>
              </a:p>
              <a:p>
                <a:pPr marL="0" indent="0">
                  <a:lnSpc>
                    <a:spcPct val="110000"/>
                  </a:lnSpc>
                  <a:spcBef>
                    <a:spcPts val="1200"/>
                  </a:spcBef>
                  <a:buNone/>
                </a:pPr>
                <a:r>
                  <a:rPr lang="en-GB" sz="2400" dirty="0">
                    <a:solidFill>
                      <a:srgbClr val="404040"/>
                    </a:solidFill>
                    <a:latin typeface="Arial"/>
                    <a:ea typeface="Arial"/>
                    <a:cs typeface="Arial"/>
                    <a:sym typeface="Arial"/>
                  </a:rPr>
                  <a:t>Formula</a:t>
                </a:r>
                <a:r>
                  <a:rPr lang="en-GB" sz="3100" dirty="0">
                    <a:solidFill>
                      <a:srgbClr val="404040"/>
                    </a:solidFill>
                    <a:latin typeface="Arial"/>
                    <a:ea typeface="Arial"/>
                    <a:cs typeface="Arial"/>
                    <a:sym typeface="Arial"/>
                  </a:rPr>
                  <a:t>:</a:t>
                </a:r>
                <a14:m>
                  <m:oMath xmlns:m="http://schemas.openxmlformats.org/officeDocument/2006/math">
                    <m:r>
                      <a:rPr lang="en-GB" sz="3400" b="0" i="0" smtClean="0">
                        <a:latin typeface="Cambria Math" panose="02040503050406030204" pitchFamily="18" charset="0"/>
                      </a:rPr>
                      <m:t> </m:t>
                    </m:r>
                    <m:r>
                      <a:rPr lang="en-GB" sz="3400" i="1">
                        <a:latin typeface="Cambria Math" panose="02040503050406030204" pitchFamily="18" charset="0"/>
                      </a:rPr>
                      <m:t>𝑈</m:t>
                    </m:r>
                    <m:sSub>
                      <m:sSubPr>
                        <m:ctrlPr>
                          <a:rPr lang="ar-AE" sz="3400" i="1">
                            <a:latin typeface="Cambria Math" panose="02040503050406030204" pitchFamily="18" charset="0"/>
                          </a:rPr>
                        </m:ctrlPr>
                      </m:sSubPr>
                      <m:e>
                        <m:r>
                          <a:rPr lang="ar-AE" sz="3400" i="1">
                            <a:latin typeface="Cambria Math" panose="02040503050406030204" pitchFamily="18" charset="0"/>
                          </a:rPr>
                          <m:t>𝐵</m:t>
                        </m:r>
                      </m:e>
                      <m:sub>
                        <m:r>
                          <a:rPr lang="ar-AE" sz="3400" i="1">
                            <a:latin typeface="Cambria Math" panose="02040503050406030204" pitchFamily="18" charset="0"/>
                          </a:rPr>
                          <m:t>3</m:t>
                        </m:r>
                      </m:sub>
                    </m:sSub>
                    <m:r>
                      <a:rPr lang="ar-AE" sz="3400" i="1">
                        <a:latin typeface="Cambria Math" panose="02040503050406030204" pitchFamily="18" charset="0"/>
                      </a:rPr>
                      <m:t> = </m:t>
                    </m:r>
                    <m:sSub>
                      <m:sSubPr>
                        <m:ctrlPr>
                          <a:rPr lang="ar-AE" sz="3400" i="1">
                            <a:latin typeface="Cambria Math" panose="02040503050406030204" pitchFamily="18" charset="0"/>
                          </a:rPr>
                        </m:ctrlPr>
                      </m:sSubPr>
                      <m:e>
                        <m:acc>
                          <m:accPr>
                            <m:chr m:val="̂"/>
                            <m:ctrlPr>
                              <a:rPr lang="ar-AE" sz="3400" i="1">
                                <a:latin typeface="Cambria Math" panose="02040503050406030204" pitchFamily="18" charset="0"/>
                              </a:rPr>
                            </m:ctrlPr>
                          </m:accPr>
                          <m:e>
                            <m:r>
                              <a:rPr lang="ar-AE" sz="3400" i="1">
                                <a:latin typeface="Cambria Math" panose="02040503050406030204" pitchFamily="18" charset="0"/>
                              </a:rPr>
                              <m:t>𝜃</m:t>
                            </m:r>
                          </m:e>
                        </m:acc>
                      </m:e>
                      <m:sub>
                        <m:r>
                          <a:rPr lang="ar-AE" sz="3400" i="1">
                            <a:latin typeface="Cambria Math" panose="02040503050406030204" pitchFamily="18" charset="0"/>
                          </a:rPr>
                          <m:t>𝑛</m:t>
                        </m:r>
                      </m:sub>
                    </m:sSub>
                    <m:r>
                      <a:rPr lang="ar-AE" sz="3400" i="1">
                        <a:latin typeface="Cambria Math" panose="02040503050406030204" pitchFamily="18" charset="0"/>
                      </a:rPr>
                      <m:t> + </m:t>
                    </m:r>
                    <m:r>
                      <a:rPr lang="ar-AE" sz="3400" i="1">
                        <a:latin typeface="Cambria Math" panose="02040503050406030204" pitchFamily="18" charset="0"/>
                      </a:rPr>
                      <m:t>1</m:t>
                    </m:r>
                    <m:r>
                      <a:rPr lang="ar-AE" sz="3400" i="1">
                        <a:latin typeface="Cambria Math" panose="02040503050406030204" pitchFamily="18" charset="0"/>
                      </a:rPr>
                      <m:t>.</m:t>
                    </m:r>
                    <m:r>
                      <a:rPr lang="ar-AE" sz="3400" i="1">
                        <a:latin typeface="Cambria Math" panose="02040503050406030204" pitchFamily="18" charset="0"/>
                      </a:rPr>
                      <m:t>645</m:t>
                    </m:r>
                    <m:f>
                      <m:fPr>
                        <m:ctrlPr>
                          <a:rPr lang="ar-AE" sz="3400" i="1">
                            <a:latin typeface="Cambria Math" panose="02040503050406030204" pitchFamily="18" charset="0"/>
                          </a:rPr>
                        </m:ctrlPr>
                      </m:fPr>
                      <m:num>
                        <m:r>
                          <a:rPr lang="ar-AE" sz="3400" i="1">
                            <a:latin typeface="Cambria Math" panose="02040503050406030204" pitchFamily="18" charset="0"/>
                          </a:rPr>
                          <m:t>2</m:t>
                        </m:r>
                        <m:acc>
                          <m:accPr>
                            <m:chr m:val="̂"/>
                            <m:ctrlPr>
                              <a:rPr lang="ar-AE" sz="3400" i="1">
                                <a:latin typeface="Cambria Math" panose="02040503050406030204" pitchFamily="18" charset="0"/>
                              </a:rPr>
                            </m:ctrlPr>
                          </m:accPr>
                          <m:e>
                            <m:r>
                              <a:rPr lang="ar-AE" sz="3400" i="1">
                                <a:latin typeface="Cambria Math" panose="02040503050406030204" pitchFamily="18" charset="0"/>
                              </a:rPr>
                              <m:t>𝜌</m:t>
                            </m:r>
                          </m:e>
                        </m:acc>
                      </m:num>
                      <m:den>
                        <m:rad>
                          <m:radPr>
                            <m:degHide m:val="on"/>
                            <m:ctrlPr>
                              <a:rPr lang="ar-AE" sz="3400" i="1">
                                <a:latin typeface="Cambria Math" panose="02040503050406030204" pitchFamily="18" charset="0"/>
                              </a:rPr>
                            </m:ctrlPr>
                          </m:radPr>
                          <m:deg/>
                          <m:e>
                            <m:r>
                              <a:rPr lang="ar-AE" sz="3400" i="1">
                                <a:latin typeface="Cambria Math" panose="02040503050406030204" pitchFamily="18" charset="0"/>
                              </a:rPr>
                              <m:t>𝑛</m:t>
                            </m:r>
                          </m:e>
                        </m:rad>
                      </m:den>
                    </m:f>
                  </m:oMath>
                </a14:m>
                <a:endParaRPr lang="ar-AE" sz="3400" dirty="0"/>
              </a:p>
              <a:p>
                <a:pPr marL="0" lvl="0" indent="0">
                  <a:lnSpc>
                    <a:spcPct val="110000"/>
                  </a:lnSpc>
                  <a:spcBef>
                    <a:spcPts val="1200"/>
                  </a:spcBef>
                  <a:buNone/>
                </a:pPr>
                <a:endParaRPr sz="3100" dirty="0"/>
              </a:p>
            </p:txBody>
          </p:sp>
        </mc:Choice>
        <mc:Fallback xmlns="">
          <p:sp>
            <p:nvSpPr>
              <p:cNvPr id="125" name="Google Shape;125;p19"/>
              <p:cNvSpPr txBox="1">
                <a:spLocks noGrp="1" noRot="1" noChangeAspect="1" noMove="1" noResize="1" noEditPoints="1" noAdjustHandles="1" noChangeArrowheads="1" noChangeShapeType="1" noTextEdit="1"/>
              </p:cNvSpPr>
              <p:nvPr>
                <p:ph type="body" idx="1"/>
              </p:nvPr>
            </p:nvSpPr>
            <p:spPr>
              <a:xfrm>
                <a:off x="633700" y="1441200"/>
                <a:ext cx="7688700" cy="2261100"/>
              </a:xfrm>
              <a:prstGeom prst="rect">
                <a:avLst/>
              </a:prstGeom>
              <a:blipFill>
                <a:blip r:embed="rId3"/>
                <a:stretch>
                  <a:fillRect l="-555"/>
                </a:stretch>
              </a:blipFill>
            </p:spPr>
            <p:txBody>
              <a:bodyPr/>
              <a:lstStyle/>
              <a:p>
                <a:r>
                  <a:rPr lang="en-GB">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body" idx="1"/>
          </p:nvPr>
        </p:nvSpPr>
        <p:spPr>
          <a:xfrm>
            <a:off x="727650" y="1441200"/>
            <a:ext cx="7688700" cy="3073200"/>
          </a:xfrm>
          <a:prstGeom prst="rect">
            <a:avLst/>
          </a:prstGeom>
        </p:spPr>
        <p:txBody>
          <a:bodyPr spcFirstLastPara="1" wrap="square" lIns="91425" tIns="91425" rIns="91425" bIns="91425" anchor="t" anchorCtr="0">
            <a:normAutofit fontScale="85000" lnSpcReduction="10000"/>
          </a:bodyPr>
          <a:lstStyle/>
          <a:p>
            <a:pPr marL="0" lvl="0" indent="0" algn="l" rtl="0">
              <a:lnSpc>
                <a:spcPct val="110000"/>
              </a:lnSpc>
              <a:spcBef>
                <a:spcPts val="1200"/>
              </a:spcBef>
              <a:spcAft>
                <a:spcPts val="0"/>
              </a:spcAft>
              <a:buNone/>
            </a:pPr>
            <a:r>
              <a:rPr lang="en" sz="1900" dirty="0">
                <a:solidFill>
                  <a:srgbClr val="EC7016"/>
                </a:solidFill>
                <a:latin typeface="Arial"/>
                <a:ea typeface="Arial"/>
                <a:cs typeface="Arial"/>
                <a:sym typeface="Arial"/>
              </a:rPr>
              <a:t> </a:t>
            </a:r>
            <a:r>
              <a:rPr lang="en" sz="1900" b="1" dirty="0">
                <a:solidFill>
                  <a:srgbClr val="404040"/>
                </a:solidFill>
                <a:latin typeface="Arial"/>
                <a:ea typeface="Arial"/>
                <a:cs typeface="Arial"/>
                <a:sym typeface="Arial"/>
              </a:rPr>
              <a:t>Case 1</a:t>
            </a:r>
            <a:r>
              <a:rPr lang="en" sz="1900" dirty="0">
                <a:solidFill>
                  <a:srgbClr val="404040"/>
                </a:solidFill>
                <a:latin typeface="Arial"/>
                <a:ea typeface="Arial"/>
                <a:cs typeface="Arial"/>
                <a:sym typeface="Arial"/>
              </a:rPr>
              <a:t>:In the first scenario we assign equal probabilities (i.e 1/C) for each category out of 'C' categories using the below rmultinom()It ensures that the population exhibits an identical distribution of probabilities for matching in every possible pair. Thus every category is equally likely to be represented in the population. </a:t>
            </a:r>
            <a:endParaRPr sz="1900" dirty="0">
              <a:solidFill>
                <a:srgbClr val="404040"/>
              </a:solidFill>
              <a:latin typeface="Arial"/>
              <a:ea typeface="Arial"/>
              <a:cs typeface="Arial"/>
              <a:sym typeface="Arial"/>
            </a:endParaRPr>
          </a:p>
          <a:p>
            <a:pPr marL="0" lvl="0" indent="0" algn="l" rtl="0">
              <a:lnSpc>
                <a:spcPct val="110000"/>
              </a:lnSpc>
              <a:spcBef>
                <a:spcPts val="1200"/>
              </a:spcBef>
              <a:spcAft>
                <a:spcPts val="0"/>
              </a:spcAft>
              <a:buNone/>
            </a:pPr>
            <a:endParaRPr sz="1900" dirty="0">
              <a:solidFill>
                <a:srgbClr val="404040"/>
              </a:solidFill>
              <a:latin typeface="Arial"/>
              <a:ea typeface="Arial"/>
              <a:cs typeface="Arial"/>
              <a:sym typeface="Arial"/>
            </a:endParaRPr>
          </a:p>
          <a:p>
            <a:pPr marL="0" lvl="0" indent="0" algn="l" rtl="0">
              <a:lnSpc>
                <a:spcPct val="110000"/>
              </a:lnSpc>
              <a:spcBef>
                <a:spcPts val="1200"/>
              </a:spcBef>
              <a:spcAft>
                <a:spcPts val="0"/>
              </a:spcAft>
              <a:buNone/>
            </a:pPr>
            <a:r>
              <a:rPr lang="en" sz="1900" dirty="0">
                <a:solidFill>
                  <a:srgbClr val="EC7016"/>
                </a:solidFill>
                <a:latin typeface="Arial"/>
                <a:ea typeface="Arial"/>
                <a:cs typeface="Arial"/>
                <a:sym typeface="Arial"/>
              </a:rPr>
              <a:t> </a:t>
            </a:r>
            <a:r>
              <a:rPr lang="en" sz="1900" b="1" dirty="0">
                <a:solidFill>
                  <a:srgbClr val="404040"/>
                </a:solidFill>
                <a:latin typeface="Arial"/>
                <a:ea typeface="Arial"/>
                <a:cs typeface="Arial"/>
                <a:sym typeface="Arial"/>
              </a:rPr>
              <a:t>Case 2</a:t>
            </a:r>
            <a:r>
              <a:rPr lang="en" sz="1900" dirty="0">
                <a:solidFill>
                  <a:srgbClr val="404040"/>
                </a:solidFill>
                <a:latin typeface="Arial"/>
                <a:ea typeface="Arial"/>
                <a:cs typeface="Arial"/>
                <a:sym typeface="Arial"/>
              </a:rPr>
              <a:t>: In case 2, we modify the probabilities assigned to each category by assigning unequal probabilities to them using the below rmultinom().Thus they no longer exhibit an identical distribution of probabilities for each possible pair.</a:t>
            </a:r>
            <a:endParaRPr sz="1900" dirty="0">
              <a:solidFill>
                <a:srgbClr val="404040"/>
              </a:solidFill>
              <a:latin typeface="Arial"/>
              <a:ea typeface="Arial"/>
              <a:cs typeface="Arial"/>
              <a:sym typeface="Arial"/>
            </a:endParaRPr>
          </a:p>
          <a:p>
            <a:pPr marL="0" lvl="0" indent="0" algn="l" rtl="0">
              <a:lnSpc>
                <a:spcPct val="110000"/>
              </a:lnSpc>
              <a:spcBef>
                <a:spcPts val="1200"/>
              </a:spcBef>
              <a:spcAft>
                <a:spcPts val="0"/>
              </a:spcAft>
              <a:buNone/>
            </a:pPr>
            <a:endParaRPr sz="1900" dirty="0">
              <a:solidFill>
                <a:srgbClr val="404040"/>
              </a:solidFill>
              <a:latin typeface="Arial"/>
              <a:ea typeface="Arial"/>
              <a:cs typeface="Arial"/>
              <a:sym typeface="Arial"/>
            </a:endParaRPr>
          </a:p>
          <a:p>
            <a:pPr marL="0" lvl="0" indent="0" algn="l" rtl="0">
              <a:lnSpc>
                <a:spcPct val="110000"/>
              </a:lnSpc>
              <a:spcBef>
                <a:spcPts val="1200"/>
              </a:spcBef>
              <a:spcAft>
                <a:spcPts val="0"/>
              </a:spcAft>
              <a:buNone/>
            </a:pPr>
            <a:endParaRPr sz="1900" dirty="0">
              <a:solidFill>
                <a:srgbClr val="404040"/>
              </a:solidFill>
              <a:latin typeface="Arial"/>
              <a:ea typeface="Arial"/>
              <a:cs typeface="Arial"/>
              <a:sym typeface="Arial"/>
            </a:endParaRPr>
          </a:p>
          <a:p>
            <a:pPr marL="0" lvl="0" indent="0" algn="l" rtl="0">
              <a:spcBef>
                <a:spcPts val="200"/>
              </a:spcBef>
              <a:spcAft>
                <a:spcPts val="1200"/>
              </a:spcAft>
              <a:buNone/>
            </a:pPr>
            <a:endParaRPr dirty="0"/>
          </a:p>
        </p:txBody>
      </p:sp>
      <p:pic>
        <p:nvPicPr>
          <p:cNvPr id="132" name="Google Shape;132;p20"/>
          <p:cNvPicPr preferRelativeResize="0"/>
          <p:nvPr/>
        </p:nvPicPr>
        <p:blipFill>
          <a:blip r:embed="rId3">
            <a:alphaModFix/>
          </a:blip>
          <a:srcRect l="1" t="1" r="879" b="24457"/>
          <a:stretch/>
        </p:blipFill>
        <p:spPr>
          <a:xfrm>
            <a:off x="1723274" y="4238024"/>
            <a:ext cx="5509424" cy="208781"/>
          </a:xfrm>
          <a:prstGeom prst="rect">
            <a:avLst/>
          </a:prstGeom>
          <a:noFill/>
          <a:ln>
            <a:noFill/>
          </a:ln>
        </p:spPr>
      </p:pic>
      <p:pic>
        <p:nvPicPr>
          <p:cNvPr id="133" name="Google Shape;133;p20"/>
          <p:cNvPicPr preferRelativeResize="0"/>
          <p:nvPr/>
        </p:nvPicPr>
        <p:blipFill>
          <a:blip r:embed="rId4">
            <a:alphaModFix/>
          </a:blip>
          <a:stretch>
            <a:fillRect/>
          </a:stretch>
        </p:blipFill>
        <p:spPr>
          <a:xfrm>
            <a:off x="1949728" y="2768175"/>
            <a:ext cx="4760455" cy="2087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727650" y="429500"/>
            <a:ext cx="7688700" cy="73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1883">
                <a:solidFill>
                  <a:srgbClr val="343541"/>
                </a:solidFill>
              </a:rPr>
              <a:t>Philosophy of Statistical Averaging for Robust Estimation and Coverage</a:t>
            </a:r>
            <a:r>
              <a:rPr lang="en" sz="4700" b="0">
                <a:solidFill>
                  <a:srgbClr val="343541"/>
                </a:solidFill>
                <a:latin typeface="Arial"/>
                <a:ea typeface="Arial"/>
                <a:cs typeface="Arial"/>
                <a:sym typeface="Arial"/>
              </a:rPr>
              <a:t> </a:t>
            </a:r>
            <a:endParaRPr/>
          </a:p>
        </p:txBody>
      </p:sp>
      <p:sp>
        <p:nvSpPr>
          <p:cNvPr id="139" name="Google Shape;139;p21"/>
          <p:cNvSpPr txBox="1">
            <a:spLocks noGrp="1"/>
          </p:cNvSpPr>
          <p:nvPr>
            <p:ph type="body" idx="1"/>
          </p:nvPr>
        </p:nvSpPr>
        <p:spPr>
          <a:xfrm>
            <a:off x="709400" y="1539500"/>
            <a:ext cx="7688700" cy="3242400"/>
          </a:xfrm>
          <a:prstGeom prst="rect">
            <a:avLst/>
          </a:prstGeom>
        </p:spPr>
        <p:txBody>
          <a:bodyPr spcFirstLastPara="1" wrap="square" lIns="91425" tIns="91425" rIns="91425" bIns="91425" anchor="t" anchorCtr="0">
            <a:normAutofit fontScale="85000" lnSpcReduction="20000"/>
          </a:bodyPr>
          <a:lstStyle/>
          <a:p>
            <a:pPr marL="0" lvl="0" indent="0" algn="l" rtl="0">
              <a:lnSpc>
                <a:spcPct val="110000"/>
              </a:lnSpc>
              <a:spcBef>
                <a:spcPts val="1200"/>
              </a:spcBef>
              <a:spcAft>
                <a:spcPts val="0"/>
              </a:spcAft>
              <a:buNone/>
            </a:pPr>
            <a:r>
              <a:rPr lang="en" sz="1900" b="1" dirty="0">
                <a:solidFill>
                  <a:srgbClr val="374151"/>
                </a:solidFill>
                <a:latin typeface="Raleway"/>
                <a:ea typeface="Raleway"/>
                <a:cs typeface="Raleway"/>
                <a:sym typeface="Raleway"/>
              </a:rPr>
              <a:t>Statistical Averaging for a Reliable Estimation:</a:t>
            </a:r>
            <a:endParaRPr sz="1900" b="1" dirty="0">
              <a:solidFill>
                <a:srgbClr val="374151"/>
              </a:solidFill>
              <a:latin typeface="Raleway"/>
              <a:ea typeface="Raleway"/>
              <a:cs typeface="Raleway"/>
              <a:sym typeface="Raleway"/>
            </a:endParaRPr>
          </a:p>
          <a:p>
            <a:pPr marL="457200" lvl="0" indent="-320357" algn="l" rtl="0">
              <a:spcBef>
                <a:spcPts val="200"/>
              </a:spcBef>
              <a:spcAft>
                <a:spcPts val="0"/>
              </a:spcAft>
              <a:buClr>
                <a:srgbClr val="374151"/>
              </a:buClr>
              <a:buSzPct val="100000"/>
              <a:buFont typeface="Raleway"/>
              <a:buChar char="●"/>
            </a:pPr>
            <a:r>
              <a:rPr lang="en" sz="1700" dirty="0">
                <a:solidFill>
                  <a:srgbClr val="374151"/>
                </a:solidFill>
                <a:latin typeface="Raleway"/>
                <a:ea typeface="Raleway"/>
                <a:cs typeface="Raleway"/>
                <a:sym typeface="Raleway"/>
              </a:rPr>
              <a:t>Concept: Mean of theta.hat is employed to enhance the estimation of the random match probability (RMP).</a:t>
            </a:r>
            <a:endParaRPr sz="1700" dirty="0">
              <a:solidFill>
                <a:srgbClr val="374151"/>
              </a:solidFill>
              <a:latin typeface="Raleway"/>
              <a:ea typeface="Raleway"/>
              <a:cs typeface="Raleway"/>
              <a:sym typeface="Raleway"/>
            </a:endParaRPr>
          </a:p>
          <a:p>
            <a:pPr marL="457200" lvl="0" indent="-320357" algn="l" rtl="0">
              <a:spcBef>
                <a:spcPts val="0"/>
              </a:spcBef>
              <a:spcAft>
                <a:spcPts val="0"/>
              </a:spcAft>
              <a:buClr>
                <a:srgbClr val="374151"/>
              </a:buClr>
              <a:buSzPct val="100000"/>
              <a:buFont typeface="Raleway"/>
              <a:buChar char="●"/>
            </a:pPr>
            <a:r>
              <a:rPr lang="en" sz="1700" dirty="0">
                <a:solidFill>
                  <a:srgbClr val="374151"/>
                </a:solidFill>
                <a:latin typeface="Raleway"/>
                <a:ea typeface="Raleway"/>
                <a:cs typeface="Raleway"/>
                <a:sym typeface="Raleway"/>
              </a:rPr>
              <a:t>Rationale: In a simulated environment, theta.hat represents a series of sample estimates, and the mean across iterations provides a stable RMP estimate.</a:t>
            </a:r>
            <a:endParaRPr sz="1700" dirty="0">
              <a:solidFill>
                <a:srgbClr val="374151"/>
              </a:solidFill>
              <a:latin typeface="Raleway"/>
              <a:ea typeface="Raleway"/>
              <a:cs typeface="Raleway"/>
              <a:sym typeface="Raleway"/>
            </a:endParaRPr>
          </a:p>
          <a:p>
            <a:pPr marL="0" lvl="0" indent="0" algn="l" rtl="0">
              <a:lnSpc>
                <a:spcPct val="110000"/>
              </a:lnSpc>
              <a:spcBef>
                <a:spcPts val="1200"/>
              </a:spcBef>
              <a:spcAft>
                <a:spcPts val="0"/>
              </a:spcAft>
              <a:buNone/>
            </a:pPr>
            <a:r>
              <a:rPr lang="en" sz="1900" b="1" dirty="0">
                <a:solidFill>
                  <a:srgbClr val="374151"/>
                </a:solidFill>
                <a:latin typeface="Raleway"/>
                <a:ea typeface="Raleway"/>
                <a:cs typeface="Raleway"/>
                <a:sym typeface="Raleway"/>
              </a:rPr>
              <a:t>Coverage Analysis Philosophy:</a:t>
            </a:r>
            <a:endParaRPr sz="1900" b="1" dirty="0">
              <a:solidFill>
                <a:srgbClr val="374151"/>
              </a:solidFill>
              <a:latin typeface="Raleway"/>
              <a:ea typeface="Raleway"/>
              <a:cs typeface="Raleway"/>
              <a:sym typeface="Raleway"/>
            </a:endParaRPr>
          </a:p>
          <a:p>
            <a:pPr marL="457200" lvl="0" indent="-320357" algn="l" rtl="0">
              <a:spcBef>
                <a:spcPts val="200"/>
              </a:spcBef>
              <a:spcAft>
                <a:spcPts val="0"/>
              </a:spcAft>
              <a:buClr>
                <a:srgbClr val="374151"/>
              </a:buClr>
              <a:buSzPct val="100000"/>
              <a:buFont typeface="Raleway"/>
              <a:buChar char="●"/>
            </a:pPr>
            <a:r>
              <a:rPr lang="en" sz="1700" dirty="0">
                <a:solidFill>
                  <a:srgbClr val="374151"/>
                </a:solidFill>
                <a:latin typeface="Raleway"/>
                <a:ea typeface="Raleway"/>
                <a:cs typeface="Raleway"/>
                <a:sym typeface="Raleway"/>
              </a:rPr>
              <a:t>Process: Evaluates reliability of upper confidence bounds (e.g., ub1) through a consistent and iterative approach.</a:t>
            </a:r>
            <a:endParaRPr sz="1700" dirty="0">
              <a:solidFill>
                <a:srgbClr val="374151"/>
              </a:solidFill>
              <a:latin typeface="Raleway"/>
              <a:ea typeface="Raleway"/>
              <a:cs typeface="Raleway"/>
              <a:sym typeface="Raleway"/>
            </a:endParaRPr>
          </a:p>
          <a:p>
            <a:pPr marL="457200" lvl="0" indent="-320357" algn="l" rtl="0">
              <a:spcBef>
                <a:spcPts val="0"/>
              </a:spcBef>
              <a:spcAft>
                <a:spcPts val="0"/>
              </a:spcAft>
              <a:buClr>
                <a:srgbClr val="374151"/>
              </a:buClr>
              <a:buSzPct val="100000"/>
              <a:buFont typeface="Raleway"/>
              <a:buChar char="●"/>
            </a:pPr>
            <a:r>
              <a:rPr lang="en" sz="1700" dirty="0">
                <a:solidFill>
                  <a:srgbClr val="374151"/>
                </a:solidFill>
                <a:latin typeface="Raleway"/>
                <a:ea typeface="Raleway"/>
                <a:cs typeface="Raleway"/>
                <a:sym typeface="Raleway"/>
              </a:rPr>
              <a:t>Metric: Coverage probability quantifies how accurately upper bounds encapsulate the true RMP across multiple simulations.</a:t>
            </a:r>
            <a:endParaRPr sz="1700" dirty="0">
              <a:solidFill>
                <a:srgbClr val="374151"/>
              </a:solidFill>
              <a:latin typeface="Raleway"/>
              <a:ea typeface="Raleway"/>
              <a:cs typeface="Raleway"/>
              <a:sym typeface="Raleway"/>
            </a:endParaRPr>
          </a:p>
          <a:p>
            <a:pPr marL="457200" lvl="0" indent="-320357" algn="l" rtl="0">
              <a:spcBef>
                <a:spcPts val="0"/>
              </a:spcBef>
              <a:spcAft>
                <a:spcPts val="0"/>
              </a:spcAft>
              <a:buClr>
                <a:srgbClr val="374151"/>
              </a:buClr>
              <a:buSzPct val="100000"/>
              <a:buFont typeface="Raleway"/>
              <a:buChar char="●"/>
            </a:pPr>
            <a:r>
              <a:rPr lang="en" sz="1700" dirty="0">
                <a:solidFill>
                  <a:srgbClr val="374151"/>
                </a:solidFill>
                <a:latin typeface="Raleway"/>
                <a:ea typeface="Raleway"/>
                <a:cs typeface="Raleway"/>
                <a:sym typeface="Raleway"/>
              </a:rPr>
              <a:t>Importance: Ensures precision in statistical estimates and the accuracy of intervals for the population parameter.</a:t>
            </a:r>
            <a:endParaRPr sz="1700" dirty="0">
              <a:solidFill>
                <a:srgbClr val="374151"/>
              </a:solidFill>
              <a:latin typeface="Raleway"/>
              <a:ea typeface="Raleway"/>
              <a:cs typeface="Raleway"/>
              <a:sym typeface="Raleway"/>
            </a:endParaRPr>
          </a:p>
          <a:p>
            <a:pPr marL="0" lvl="0" indent="0" algn="l" rtl="0">
              <a:spcBef>
                <a:spcPts val="400"/>
              </a:spcBef>
              <a:spcAft>
                <a:spcPts val="120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727650" y="6152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a:t>
            </a:r>
            <a:endParaRPr/>
          </a:p>
        </p:txBody>
      </p:sp>
      <p:pic>
        <p:nvPicPr>
          <p:cNvPr id="3" name="Picture 2" descr="A screenshot of a table&#10;&#10;Description automatically generated">
            <a:extLst>
              <a:ext uri="{FF2B5EF4-FFF2-40B4-BE49-F238E27FC236}">
                <a16:creationId xmlns:a16="http://schemas.microsoft.com/office/drawing/2014/main" id="{A2FD9676-B943-F2E2-C2C2-0A809FD70218}"/>
              </a:ext>
            </a:extLst>
          </p:cNvPr>
          <p:cNvPicPr>
            <a:picLocks noChangeAspect="1"/>
          </p:cNvPicPr>
          <p:nvPr/>
        </p:nvPicPr>
        <p:blipFill>
          <a:blip r:embed="rId3"/>
          <a:stretch>
            <a:fillRect/>
          </a:stretch>
        </p:blipFill>
        <p:spPr>
          <a:xfrm>
            <a:off x="1090749" y="1410789"/>
            <a:ext cx="5519057" cy="2666522"/>
          </a:xfrm>
          <a:prstGeom prst="rect">
            <a:avLst/>
          </a:prstGeom>
        </p:spPr>
      </p:pic>
      <p:sp>
        <p:nvSpPr>
          <p:cNvPr id="4" name="TextBox 3">
            <a:extLst>
              <a:ext uri="{FF2B5EF4-FFF2-40B4-BE49-F238E27FC236}">
                <a16:creationId xmlns:a16="http://schemas.microsoft.com/office/drawing/2014/main" id="{48E3280C-ABCA-3730-DEEF-941264171316}"/>
              </a:ext>
            </a:extLst>
          </p:cNvPr>
          <p:cNvSpPr txBox="1"/>
          <p:nvPr/>
        </p:nvSpPr>
        <p:spPr>
          <a:xfrm>
            <a:off x="1090749" y="4167051"/>
            <a:ext cx="5519057" cy="738664"/>
          </a:xfrm>
          <a:prstGeom prst="rect">
            <a:avLst/>
          </a:prstGeom>
          <a:noFill/>
        </p:spPr>
        <p:txBody>
          <a:bodyPr wrap="square" rtlCol="0">
            <a:spAutoFit/>
          </a:bodyPr>
          <a:lstStyle/>
          <a:p>
            <a:r>
              <a:rPr lang="en-US" dirty="0"/>
              <a:t>𝑈𝐵3 : It provides a good balance between 95% coverage and upper bound size with low RMP Estimate. So, we recommend UB3 approach. </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p:nvPr>
        </p:nvSpPr>
        <p:spPr>
          <a:xfrm>
            <a:off x="205200" y="552600"/>
            <a:ext cx="87546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Motivation behind combination of sample &amp; simulation sizes</a:t>
            </a:r>
            <a:endParaRPr/>
          </a:p>
        </p:txBody>
      </p:sp>
      <p:sp>
        <p:nvSpPr>
          <p:cNvPr id="151" name="Google Shape;151;p23"/>
          <p:cNvSpPr txBox="1">
            <a:spLocks noGrp="1"/>
          </p:cNvSpPr>
          <p:nvPr>
            <p:ph type="body" idx="1"/>
          </p:nvPr>
        </p:nvSpPr>
        <p:spPr>
          <a:xfrm>
            <a:off x="385675" y="1668500"/>
            <a:ext cx="7688700" cy="2261100"/>
          </a:xfrm>
          <a:prstGeom prst="rect">
            <a:avLst/>
          </a:prstGeom>
        </p:spPr>
        <p:txBody>
          <a:bodyPr spcFirstLastPara="1" wrap="square" lIns="91425" tIns="91425" rIns="91425" bIns="91425" anchor="t" anchorCtr="0">
            <a:normAutofit fontScale="85000" lnSpcReduction="10000"/>
          </a:bodyPr>
          <a:lstStyle/>
          <a:p>
            <a:pPr marL="0" lvl="0" indent="0" algn="l" rtl="0">
              <a:lnSpc>
                <a:spcPct val="110000"/>
              </a:lnSpc>
              <a:spcBef>
                <a:spcPts val="1200"/>
              </a:spcBef>
              <a:spcAft>
                <a:spcPts val="0"/>
              </a:spcAft>
              <a:buNone/>
            </a:pPr>
            <a:r>
              <a:rPr lang="en" sz="1900">
                <a:solidFill>
                  <a:srgbClr val="404040"/>
                </a:solidFill>
                <a:latin typeface="Arial"/>
                <a:ea typeface="Arial"/>
                <a:cs typeface="Arial"/>
                <a:sym typeface="Arial"/>
              </a:rPr>
              <a:t>We may investigate how the precision and accuracy of our estimations alter as the amount of data increases by varying the sample and simulation sizes.</a:t>
            </a:r>
            <a:endParaRPr sz="1900">
              <a:solidFill>
                <a:srgbClr val="404040"/>
              </a:solidFill>
              <a:latin typeface="Arial"/>
              <a:ea typeface="Arial"/>
              <a:cs typeface="Arial"/>
              <a:sym typeface="Arial"/>
            </a:endParaRPr>
          </a:p>
          <a:p>
            <a:pPr marL="0" lvl="0" indent="0" algn="l" rtl="0">
              <a:lnSpc>
                <a:spcPct val="110000"/>
              </a:lnSpc>
              <a:spcBef>
                <a:spcPts val="1200"/>
              </a:spcBef>
              <a:spcAft>
                <a:spcPts val="0"/>
              </a:spcAft>
              <a:buNone/>
            </a:pPr>
            <a:r>
              <a:rPr lang="en" sz="1900">
                <a:solidFill>
                  <a:srgbClr val="404040"/>
                </a:solidFill>
                <a:latin typeface="Arial"/>
                <a:ea typeface="Arial"/>
                <a:cs typeface="Arial"/>
                <a:sym typeface="Arial"/>
              </a:rPr>
              <a:t>We conducted simulations using sample sizes ranging from 15 to 3000. and maintained a consistent simulation size of 2000.</a:t>
            </a:r>
            <a:endParaRPr sz="1900">
              <a:solidFill>
                <a:srgbClr val="404040"/>
              </a:solidFill>
              <a:latin typeface="Arial"/>
              <a:ea typeface="Arial"/>
              <a:cs typeface="Arial"/>
              <a:sym typeface="Arial"/>
            </a:endParaRPr>
          </a:p>
          <a:p>
            <a:pPr marL="0" lvl="0" indent="0" algn="l" rtl="0">
              <a:lnSpc>
                <a:spcPct val="110000"/>
              </a:lnSpc>
              <a:spcBef>
                <a:spcPts val="1200"/>
              </a:spcBef>
              <a:spcAft>
                <a:spcPts val="0"/>
              </a:spcAft>
              <a:buNone/>
            </a:pPr>
            <a:r>
              <a:rPr lang="en" sz="1900">
                <a:solidFill>
                  <a:srgbClr val="F6A21D"/>
                </a:solidFill>
                <a:latin typeface="Arial"/>
                <a:ea typeface="Arial"/>
                <a:cs typeface="Arial"/>
                <a:sym typeface="Arial"/>
              </a:rPr>
              <a:t> </a:t>
            </a:r>
            <a:r>
              <a:rPr lang="en" sz="1900">
                <a:solidFill>
                  <a:srgbClr val="404040"/>
                </a:solidFill>
                <a:latin typeface="Arial"/>
                <a:ea typeface="Arial"/>
                <a:cs typeface="Arial"/>
                <a:sym typeface="Arial"/>
              </a:rPr>
              <a:t>This decision was made with computational efficiency in mind, as a fixed simulation size helped manage computational time constraints</a:t>
            </a:r>
            <a:endParaRPr sz="1900">
              <a:solidFill>
                <a:srgbClr val="404040"/>
              </a:solidFill>
              <a:latin typeface="Arial"/>
              <a:ea typeface="Arial"/>
              <a:cs typeface="Arial"/>
              <a:sym typeface="Arial"/>
            </a:endParaRPr>
          </a:p>
          <a:p>
            <a:pPr marL="0" lvl="0" indent="0" algn="l" rtl="0">
              <a:spcBef>
                <a:spcPts val="20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811525" y="5526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Strengths of Multinoullis</a:t>
            </a:r>
            <a:endParaRPr/>
          </a:p>
        </p:txBody>
      </p:sp>
      <p:sp>
        <p:nvSpPr>
          <p:cNvPr id="157" name="Google Shape;157;p24"/>
          <p:cNvSpPr txBox="1">
            <a:spLocks noGrp="1"/>
          </p:cNvSpPr>
          <p:nvPr>
            <p:ph type="body" idx="1"/>
          </p:nvPr>
        </p:nvSpPr>
        <p:spPr>
          <a:xfrm>
            <a:off x="727650" y="1441200"/>
            <a:ext cx="7688700" cy="2261100"/>
          </a:xfrm>
          <a:prstGeom prst="rect">
            <a:avLst/>
          </a:prstGeom>
        </p:spPr>
        <p:txBody>
          <a:bodyPr spcFirstLastPara="1" wrap="square" lIns="91425" tIns="91425" rIns="91425" bIns="91425" anchor="t" anchorCtr="0">
            <a:normAutofit/>
          </a:bodyPr>
          <a:lstStyle/>
          <a:p>
            <a:pPr marL="811950" lvl="1" indent="-342900">
              <a:spcBef>
                <a:spcPts val="1160"/>
              </a:spcBef>
              <a:buSzPts val="1660"/>
            </a:pPr>
            <a:r>
              <a:rPr lang="en-US" sz="2000" dirty="0"/>
              <a:t>Simple to explain/understand</a:t>
            </a:r>
            <a:endParaRPr lang="en-US" sz="1400" dirty="0"/>
          </a:p>
          <a:p>
            <a:pPr marL="811950" lvl="1" indent="-342900">
              <a:spcBef>
                <a:spcPts val="1160"/>
              </a:spcBef>
              <a:buSzPts val="1660"/>
            </a:pPr>
            <a:r>
              <a:rPr lang="en-US" sz="2000" dirty="0"/>
              <a:t>Simple to implement</a:t>
            </a:r>
            <a:endParaRPr lang="en-US" sz="1400" dirty="0"/>
          </a:p>
          <a:p>
            <a:pPr marL="811950" lvl="1" indent="-342900">
              <a:spcBef>
                <a:spcPts val="1160"/>
              </a:spcBef>
              <a:buSzPts val="1660"/>
            </a:pPr>
            <a:r>
              <a:rPr lang="en-US" sz="2000" dirty="0"/>
              <a:t>Probabilities of categories needed</a:t>
            </a:r>
            <a:endParaRPr lang="en-US" sz="2000" b="1" dirty="0"/>
          </a:p>
          <a:p>
            <a:pPr marL="0" lvl="0" indent="0" algn="l" rtl="0">
              <a:spcBef>
                <a:spcPts val="200"/>
              </a:spcBef>
              <a:spcAft>
                <a:spcPts val="120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txBox="1">
            <a:spLocks noGrp="1"/>
          </p:cNvSpPr>
          <p:nvPr>
            <p:ph type="title"/>
          </p:nvPr>
        </p:nvSpPr>
        <p:spPr>
          <a:xfrm>
            <a:off x="729450" y="579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Weaknessess of Multinoullis</a:t>
            </a:r>
            <a:endParaRPr/>
          </a:p>
        </p:txBody>
      </p:sp>
      <p:sp>
        <p:nvSpPr>
          <p:cNvPr id="163" name="Google Shape;163;p25"/>
          <p:cNvSpPr txBox="1">
            <a:spLocks noGrp="1"/>
          </p:cNvSpPr>
          <p:nvPr>
            <p:ph type="body" idx="1"/>
          </p:nvPr>
        </p:nvSpPr>
        <p:spPr>
          <a:xfrm>
            <a:off x="729450" y="1518000"/>
            <a:ext cx="7688700" cy="2261100"/>
          </a:xfrm>
          <a:prstGeom prst="rect">
            <a:avLst/>
          </a:prstGeom>
        </p:spPr>
        <p:txBody>
          <a:bodyPr spcFirstLastPara="1" wrap="square" lIns="91425" tIns="91425" rIns="91425" bIns="91425" anchor="t" anchorCtr="0">
            <a:normAutofit/>
          </a:bodyPr>
          <a:lstStyle/>
          <a:p>
            <a:pPr marL="457200" lvl="0" indent="-349250" algn="l" rtl="0">
              <a:lnSpc>
                <a:spcPct val="110000"/>
              </a:lnSpc>
              <a:spcBef>
                <a:spcPts val="1200"/>
              </a:spcBef>
              <a:spcAft>
                <a:spcPts val="0"/>
              </a:spcAft>
              <a:buClr>
                <a:srgbClr val="404040"/>
              </a:buClr>
              <a:buSzPts val="1900"/>
              <a:buFont typeface="Raleway"/>
              <a:buChar char="●"/>
            </a:pPr>
            <a:r>
              <a:rPr lang="en" sz="1900" dirty="0">
                <a:solidFill>
                  <a:srgbClr val="404040"/>
                </a:solidFill>
                <a:latin typeface="Raleway"/>
                <a:ea typeface="Raleway"/>
                <a:cs typeface="Raleway"/>
                <a:sym typeface="Raleway"/>
              </a:rPr>
              <a:t>Resource-demanding</a:t>
            </a:r>
            <a:endParaRPr sz="1900" dirty="0">
              <a:solidFill>
                <a:srgbClr val="404040"/>
              </a:solidFill>
              <a:latin typeface="Raleway"/>
              <a:ea typeface="Raleway"/>
              <a:cs typeface="Raleway"/>
              <a:sym typeface="Raleway"/>
            </a:endParaRPr>
          </a:p>
          <a:p>
            <a:pPr marL="457200" lvl="0" indent="-349250" algn="l" rtl="0">
              <a:lnSpc>
                <a:spcPct val="110000"/>
              </a:lnSpc>
              <a:spcBef>
                <a:spcPts val="0"/>
              </a:spcBef>
              <a:spcAft>
                <a:spcPts val="0"/>
              </a:spcAft>
              <a:buClr>
                <a:srgbClr val="404040"/>
              </a:buClr>
              <a:buSzPts val="1900"/>
              <a:buFont typeface="Raleway"/>
              <a:buChar char="●"/>
            </a:pPr>
            <a:r>
              <a:rPr lang="en" sz="1900" dirty="0">
                <a:solidFill>
                  <a:srgbClr val="404040"/>
                </a:solidFill>
                <a:latin typeface="Raleway"/>
                <a:ea typeface="Raleway"/>
                <a:cs typeface="Raleway"/>
                <a:sym typeface="Raleway"/>
              </a:rPr>
              <a:t>Data Complexity</a:t>
            </a:r>
            <a:endParaRPr sz="1900" dirty="0">
              <a:solidFill>
                <a:srgbClr val="404040"/>
              </a:solidFill>
              <a:latin typeface="Raleway"/>
              <a:ea typeface="Raleway"/>
              <a:cs typeface="Raleway"/>
              <a:sym typeface="Raleway"/>
            </a:endParaRPr>
          </a:p>
          <a:p>
            <a:pPr marL="457200" lvl="0" indent="-349250" algn="l" rtl="0">
              <a:lnSpc>
                <a:spcPct val="110000"/>
              </a:lnSpc>
              <a:spcBef>
                <a:spcPts val="0"/>
              </a:spcBef>
              <a:spcAft>
                <a:spcPts val="0"/>
              </a:spcAft>
              <a:buClr>
                <a:srgbClr val="404040"/>
              </a:buClr>
              <a:buSzPts val="1900"/>
              <a:buFont typeface="Raleway"/>
              <a:buChar char="●"/>
            </a:pPr>
            <a:r>
              <a:rPr lang="en" sz="1900" dirty="0">
                <a:solidFill>
                  <a:srgbClr val="404040"/>
                </a:solidFill>
                <a:latin typeface="Raleway"/>
                <a:ea typeface="Raleway"/>
                <a:cs typeface="Raleway"/>
                <a:sym typeface="Raleway"/>
              </a:rPr>
              <a:t>Dependencies of outcomes</a:t>
            </a:r>
            <a:endParaRPr sz="1900" dirty="0">
              <a:solidFill>
                <a:srgbClr val="404040"/>
              </a:solidFill>
              <a:latin typeface="Raleway"/>
              <a:ea typeface="Raleway"/>
              <a:cs typeface="Raleway"/>
              <a:sym typeface="Raleway"/>
            </a:endParaRPr>
          </a:p>
          <a:p>
            <a:pPr marL="0" lvl="0" indent="0" algn="l" rtl="0">
              <a:spcBef>
                <a:spcPts val="200"/>
              </a:spcBef>
              <a:spcAft>
                <a:spcPts val="1200"/>
              </a:spcAft>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a:spLocks noGrp="1"/>
          </p:cNvSpPr>
          <p:nvPr>
            <p:ph type="title"/>
          </p:nvPr>
        </p:nvSpPr>
        <p:spPr>
          <a:xfrm>
            <a:off x="727650" y="5715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Recommendations</a:t>
            </a:r>
            <a:endParaRPr/>
          </a:p>
        </p:txBody>
      </p:sp>
      <p:sp>
        <p:nvSpPr>
          <p:cNvPr id="169" name="Google Shape;169;p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900" dirty="0">
                <a:latin typeface="Raleway"/>
                <a:ea typeface="Raleway"/>
                <a:cs typeface="Raleway"/>
                <a:sym typeface="Raleway"/>
              </a:rPr>
              <a:t>From the results of the simulations we recommend UB3, Independent Comparisons Binomial Assumption, which had the lowest upper bound but still within the 95% confidence interval.</a:t>
            </a:r>
            <a:endParaRPr sz="1900" dirty="0">
              <a:latin typeface="Raleway"/>
              <a:ea typeface="Raleway"/>
              <a:cs typeface="Raleway"/>
              <a:sym typeface="Ralewa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628900" y="6433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a:p>
            <a:pPr marL="0" lvl="0" indent="0" algn="l" rtl="0">
              <a:spcBef>
                <a:spcPts val="0"/>
              </a:spcBef>
              <a:spcAft>
                <a:spcPts val="0"/>
              </a:spcAft>
              <a:buNone/>
            </a:pPr>
            <a:endParaRPr/>
          </a:p>
        </p:txBody>
      </p:sp>
      <p:sp>
        <p:nvSpPr>
          <p:cNvPr id="175" name="Google Shape;175;p27"/>
          <p:cNvSpPr txBox="1">
            <a:spLocks noGrp="1"/>
          </p:cNvSpPr>
          <p:nvPr>
            <p:ph type="body" idx="1"/>
          </p:nvPr>
        </p:nvSpPr>
        <p:spPr>
          <a:xfrm>
            <a:off x="727650" y="1375500"/>
            <a:ext cx="7688700" cy="2261100"/>
          </a:xfrm>
          <a:prstGeom prst="rect">
            <a:avLst/>
          </a:prstGeom>
        </p:spPr>
        <p:txBody>
          <a:bodyPr spcFirstLastPara="1" wrap="square" lIns="91425" tIns="91425" rIns="91425" bIns="91425" anchor="t" anchorCtr="0">
            <a:noAutofit/>
          </a:bodyPr>
          <a:lstStyle/>
          <a:p>
            <a:pPr marL="0" lvl="0" indent="0" algn="l" rtl="0">
              <a:lnSpc>
                <a:spcPct val="95000"/>
              </a:lnSpc>
              <a:spcBef>
                <a:spcPts val="1200"/>
              </a:spcBef>
              <a:spcAft>
                <a:spcPts val="0"/>
              </a:spcAft>
              <a:buSzPts val="275"/>
              <a:buNone/>
            </a:pPr>
            <a:r>
              <a:rPr lang="en" sz="1481">
                <a:solidFill>
                  <a:srgbClr val="000000"/>
                </a:solidFill>
                <a:latin typeface="Raleway"/>
                <a:ea typeface="Raleway"/>
                <a:cs typeface="Raleway"/>
                <a:sym typeface="Raleway"/>
              </a:rPr>
              <a:t>Ahmed, I. (2021, August). Confidence Intervals and How to Find Them. Medium. URL: https://medium.c om/@ibtesamahmex/confidence-intervals-and-how-to-find-them-42fe4e0900c3</a:t>
            </a:r>
            <a:endParaRPr sz="1481">
              <a:solidFill>
                <a:srgbClr val="000000"/>
              </a:solidFill>
              <a:latin typeface="Raleway"/>
              <a:ea typeface="Raleway"/>
              <a:cs typeface="Raleway"/>
              <a:sym typeface="Raleway"/>
            </a:endParaRPr>
          </a:p>
          <a:p>
            <a:pPr marL="0" lvl="0" indent="0" algn="l" rtl="0">
              <a:lnSpc>
                <a:spcPct val="95000"/>
              </a:lnSpc>
              <a:spcBef>
                <a:spcPts val="1200"/>
              </a:spcBef>
              <a:spcAft>
                <a:spcPts val="0"/>
              </a:spcAft>
              <a:buSzPts val="275"/>
              <a:buNone/>
            </a:pPr>
            <a:r>
              <a:rPr lang="en" sz="1481">
                <a:solidFill>
                  <a:srgbClr val="000000"/>
                </a:solidFill>
                <a:latin typeface="Raleway"/>
                <a:ea typeface="Raleway"/>
                <a:cs typeface="Raleway"/>
                <a:sym typeface="Raleway"/>
              </a:rPr>
              <a:t>CFI Team. Monte Carlo Simulation. Corporate Finance Institute. URL:https://corporatefinanceinstitute.com/resources/knowledge/modeling/monte-carlo-simulation/</a:t>
            </a:r>
            <a:endParaRPr sz="1481">
              <a:solidFill>
                <a:srgbClr val="000000"/>
              </a:solidFill>
              <a:latin typeface="Raleway"/>
              <a:ea typeface="Raleway"/>
              <a:cs typeface="Raleway"/>
              <a:sym typeface="Raleway"/>
            </a:endParaRPr>
          </a:p>
          <a:p>
            <a:pPr marL="0" lvl="0" indent="0" algn="l" rtl="0">
              <a:lnSpc>
                <a:spcPct val="95000"/>
              </a:lnSpc>
              <a:spcBef>
                <a:spcPts val="1200"/>
              </a:spcBef>
              <a:spcAft>
                <a:spcPts val="0"/>
              </a:spcAft>
              <a:buSzPts val="275"/>
              <a:buNone/>
            </a:pPr>
            <a:r>
              <a:rPr lang="en" sz="1481">
                <a:solidFill>
                  <a:srgbClr val="000000"/>
                </a:solidFill>
                <a:latin typeface="Raleway"/>
                <a:ea typeface="Raleway"/>
                <a:cs typeface="Raleway"/>
                <a:sym typeface="Raleway"/>
              </a:rPr>
              <a:t>CFI Team. Confidence Interval. Corporate Finance Institute. URL:https://corporatefinanceinstitute.com/resources/data-science/confidence-interval/</a:t>
            </a:r>
            <a:endParaRPr sz="1481">
              <a:solidFill>
                <a:srgbClr val="000000"/>
              </a:solidFill>
              <a:latin typeface="Raleway"/>
              <a:ea typeface="Raleway"/>
              <a:cs typeface="Raleway"/>
              <a:sym typeface="Raleway"/>
            </a:endParaRPr>
          </a:p>
          <a:p>
            <a:pPr marL="0" lvl="0" indent="0" algn="l" rtl="0">
              <a:lnSpc>
                <a:spcPct val="95000"/>
              </a:lnSpc>
              <a:spcBef>
                <a:spcPts val="1200"/>
              </a:spcBef>
              <a:spcAft>
                <a:spcPts val="0"/>
              </a:spcAft>
              <a:buSzPts val="275"/>
              <a:buNone/>
            </a:pPr>
            <a:r>
              <a:rPr lang="en" sz="1481">
                <a:solidFill>
                  <a:srgbClr val="000000"/>
                </a:solidFill>
                <a:latin typeface="Raleway"/>
                <a:ea typeface="Raleway"/>
                <a:cs typeface="Raleway"/>
                <a:sym typeface="Raleway"/>
              </a:rPr>
              <a:t>Monte Carlo Method. Wikipedia.</a:t>
            </a:r>
            <a:r>
              <a:rPr lang="en" sz="1481">
                <a:solidFill>
                  <a:srgbClr val="000000"/>
                </a:solidFill>
                <a:uFill>
                  <a:noFill/>
                </a:uFill>
                <a:latin typeface="Raleway"/>
                <a:ea typeface="Raleway"/>
                <a:cs typeface="Raleway"/>
                <a:sym typeface="Raleway"/>
                <a:hlinkClick r:id="rId3">
                  <a:extLst>
                    <a:ext uri="{A12FA001-AC4F-418D-AE19-62706E023703}">
                      <ahyp:hlinkClr xmlns:ahyp="http://schemas.microsoft.com/office/drawing/2018/hyperlinkcolor" val="tx"/>
                    </a:ext>
                  </a:extLst>
                </a:hlinkClick>
              </a:rPr>
              <a:t> </a:t>
            </a:r>
            <a:r>
              <a:rPr lang="en" sz="1481" u="sng">
                <a:solidFill>
                  <a:schemeClr val="hlink"/>
                </a:solidFill>
                <a:latin typeface="Raleway"/>
                <a:ea typeface="Raleway"/>
                <a:cs typeface="Raleway"/>
                <a:sym typeface="Raleway"/>
                <a:hlinkClick r:id="rId3"/>
              </a:rPr>
              <a:t>https://en.wikipedia.org/wiki/Monte_Carlo_method</a:t>
            </a:r>
            <a:endParaRPr sz="1481" u="sng">
              <a:solidFill>
                <a:schemeClr val="hlink"/>
              </a:solidFill>
              <a:latin typeface="Raleway"/>
              <a:ea typeface="Raleway"/>
              <a:cs typeface="Raleway"/>
              <a:sym typeface="Raleway"/>
            </a:endParaRPr>
          </a:p>
          <a:p>
            <a:pPr marL="0" lvl="0" indent="0" algn="l" rtl="0">
              <a:lnSpc>
                <a:spcPct val="95000"/>
              </a:lnSpc>
              <a:spcBef>
                <a:spcPts val="1200"/>
              </a:spcBef>
              <a:spcAft>
                <a:spcPts val="0"/>
              </a:spcAft>
              <a:buSzPts val="275"/>
              <a:buNone/>
            </a:pPr>
            <a:r>
              <a:rPr lang="en" sz="1481">
                <a:solidFill>
                  <a:srgbClr val="000000"/>
                </a:solidFill>
                <a:latin typeface="Raleway"/>
                <a:ea typeface="Raleway"/>
                <a:cs typeface="Raleway"/>
                <a:sym typeface="Raleway"/>
              </a:rPr>
              <a:t>multinom. (n.d.). RDocumentation. https://www.rdocumentation.org/packages/nnet/versions/7.3-19/topics/multinom</a:t>
            </a:r>
            <a:endParaRPr sz="1481">
              <a:solidFill>
                <a:srgbClr val="000000"/>
              </a:solidFill>
              <a:latin typeface="Raleway"/>
              <a:ea typeface="Raleway"/>
              <a:cs typeface="Raleway"/>
              <a:sym typeface="Raleway"/>
            </a:endParaRPr>
          </a:p>
          <a:p>
            <a:pPr marL="0" lvl="0" indent="0" algn="l" rtl="0">
              <a:lnSpc>
                <a:spcPct val="95000"/>
              </a:lnSpc>
              <a:spcBef>
                <a:spcPts val="1200"/>
              </a:spcBef>
              <a:spcAft>
                <a:spcPts val="1200"/>
              </a:spcAft>
              <a:buSzPts val="275"/>
              <a:buNone/>
            </a:pPr>
            <a:endParaRPr sz="32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2783975" y="20365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4840"/>
              <a:t>Thank you!</a:t>
            </a:r>
            <a:endParaRPr sz="4840"/>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TotalTime>
  <Words>1075</Words>
  <Application>Microsoft Office PowerPoint</Application>
  <PresentationFormat>On-screen Show (16:9)</PresentationFormat>
  <Paragraphs>65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Cambria Math</vt:lpstr>
      <vt:lpstr>Arial</vt:lpstr>
      <vt:lpstr>Raleway</vt:lpstr>
      <vt:lpstr>Lato</vt:lpstr>
      <vt:lpstr>Streamline</vt:lpstr>
      <vt:lpstr>Project 1 Random Match Probability (RMP)</vt:lpstr>
      <vt:lpstr>Introduction</vt:lpstr>
      <vt:lpstr>Random Match Probability </vt:lpstr>
      <vt:lpstr>Upper Confidence Bound</vt:lpstr>
      <vt:lpstr>Monte Carlo Simulation</vt:lpstr>
      <vt:lpstr>UB1 - i.i.d. Binomial Assumption</vt:lpstr>
      <vt:lpstr>UB2 - Independent Comparisons Binomial Assumption</vt:lpstr>
      <vt:lpstr>UB3 - A U-Statistic Approach</vt:lpstr>
      <vt:lpstr>PowerPoint Presentation</vt:lpstr>
      <vt:lpstr>Philosophy of Statistical Averaging for Robust Estimation and Coverage </vt:lpstr>
      <vt:lpstr>RESULTS</vt:lpstr>
      <vt:lpstr>Motivation behind combination of sample &amp; simulation sizes</vt:lpstr>
      <vt:lpstr>Strengths of Multinoullis</vt:lpstr>
      <vt:lpstr>Weaknessess of Multinoullis</vt:lpstr>
      <vt:lpstr>Recommendations</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 Osei-Onomah</dc:creator>
  <cp:lastModifiedBy>Kevin Osei-Onomah</cp:lastModifiedBy>
  <cp:revision>4</cp:revision>
  <dcterms:modified xsi:type="dcterms:W3CDTF">2024-10-25T02:50:00Z</dcterms:modified>
</cp:coreProperties>
</file>